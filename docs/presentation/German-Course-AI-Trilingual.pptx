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14ce9d0bae4c4a" /><Relationship Type="http://schemas.openxmlformats.org/officeDocument/2006/relationships/extended-properties" Target="/docProps/app.xml" Id="R9c275cc4cc334abb" /><Relationship Type="http://schemas.openxmlformats.org/officeDocument/2006/relationships/officeDocument" Target="/ppt/presentation.xml" Id="R03400714c6d0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089299b57a401e"/>
  </p:sldMasterIdLst>
  <p:notesMasterIdLst>
    <p:notesMasterId xmlns:r="http://schemas.openxmlformats.org/officeDocument/2006/relationships" r:id="R73aa674088a34719"/>
  </p:notesMasterIdLst>
  <p:sldIdLst>
    <p:sldId xmlns:r="http://schemas.openxmlformats.org/officeDocument/2006/relationships" id="256" r:id="R16e7261788684942"/>
    <p:sldId xmlns:r="http://schemas.openxmlformats.org/officeDocument/2006/relationships" id="257" r:id="R528cc220f1ac4477"/>
    <p:sldId xmlns:r="http://schemas.openxmlformats.org/officeDocument/2006/relationships" id="258" r:id="R82d53c9db81c4cb1"/>
    <p:sldId xmlns:r="http://schemas.openxmlformats.org/officeDocument/2006/relationships" id="259" r:id="R536bd6fd730c4868"/>
    <p:sldId xmlns:r="http://schemas.openxmlformats.org/officeDocument/2006/relationships" id="260" r:id="R5df2d9b80d564d24"/>
    <p:sldId xmlns:r="http://schemas.openxmlformats.org/officeDocument/2006/relationships" id="261" r:id="R3f5ea4dde0af4b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da0fd0fd0f48af" /><Relationship Type="http://schemas.openxmlformats.org/officeDocument/2006/relationships/slideMaster" Target="/ppt/slideMasters/slideMaster1.xml" Id="R50089299b57a401e" /><Relationship Type="http://schemas.openxmlformats.org/officeDocument/2006/relationships/notesMaster" Target="/ppt/notesMasters/notesMaster1.xml" Id="R73aa674088a34719" /><Relationship Type="http://schemas.openxmlformats.org/officeDocument/2006/relationships/presProps" Target="/ppt/presProps.xml" Id="R08fd99a78df14c39" /><Relationship Type="http://schemas.openxmlformats.org/officeDocument/2006/relationships/tableStyles" Target="/ppt/tableStyles.xml" Id="R68f2c8d1e3dc4cd3" /><Relationship Type="http://schemas.openxmlformats.org/officeDocument/2006/relationships/slide" Target="/ppt/slides/slide1.xml" Id="R16e7261788684942" /><Relationship Type="http://schemas.openxmlformats.org/officeDocument/2006/relationships/slide" Target="/ppt/slides/slide2.xml" Id="R528cc220f1ac4477" /><Relationship Type="http://schemas.openxmlformats.org/officeDocument/2006/relationships/slide" Target="/ppt/slides/slide3.xml" Id="R82d53c9db81c4cb1" /><Relationship Type="http://schemas.openxmlformats.org/officeDocument/2006/relationships/slide" Target="/ppt/slides/slide4.xml" Id="R536bd6fd730c4868" /><Relationship Type="http://schemas.openxmlformats.org/officeDocument/2006/relationships/slide" Target="/ppt/slides/slide5.xml" Id="R5df2d9b80d564d24" /><Relationship Type="http://schemas.openxmlformats.org/officeDocument/2006/relationships/slide" Target="/ppt/slides/slide6.xml" Id="R3f5ea4dde0af4b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39e340853442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a5f418a8e2434b" /><Relationship Type="http://schemas.openxmlformats.org/officeDocument/2006/relationships/notesMaster" Target="/ppt/notesMasters/notesMaster1.xml" Id="R2fa60cf477de40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2b5d8969854734" /><Relationship Type="http://schemas.openxmlformats.org/officeDocument/2006/relationships/notesMaster" Target="/ppt/notesMasters/notesMaster1.xml" Id="R993cf5116be24e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1a5f8d3d774257" /><Relationship Type="http://schemas.openxmlformats.org/officeDocument/2006/relationships/notesMaster" Target="/ppt/notesMasters/notesMaster1.xml" Id="R8575748201f04e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b7212088724962" /><Relationship Type="http://schemas.openxmlformats.org/officeDocument/2006/relationships/notesMaster" Target="/ppt/notesMasters/notesMaster1.xml" Id="Re76c47a95c2c4b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4a4a72963448fa" /><Relationship Type="http://schemas.openxmlformats.org/officeDocument/2006/relationships/notesMaster" Target="/ppt/notesMasters/notesMaster1.xml" Id="R882fbf6c6d0b44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a795f0a1c84526" /><Relationship Type="http://schemas.openxmlformats.org/officeDocument/2006/relationships/notesMaster" Target="/ppt/notesMasters/notesMaster1.xml" Id="R0ebcbcad97294d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German Course AI overview.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Original icon generated for this project: D:/GE_FR/GermanCourseAI/assets/app-final.png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real screenshot captured from the packaged Windows executable.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screenshot: D:/GE_FR/GermanCourseAI/docs/presentation/assets/german-course-ai-screenshot.jpg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engine and openly licensed resource catalog.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https://en.wikibooks.org/wiki/German</a:t>
            </a:r>
          </a:p>
          <a:p xmlns:a="http://schemas.openxmlformats.org/drawingml/2006/main">
            <a:r>
              <a:t>- https://tatoeba.org/en/downloads</a:t>
            </a:r>
          </a:p>
          <a:p xmlns:a="http://schemas.openxmlformats.org/drawingml/2006/main">
            <a:r>
              <a:t>- https://librivox.org/pages/about-librivox/</a:t>
            </a:r>
          </a:p>
          <a:p xmlns:a="http://schemas.openxmlformats.org/drawingml/2006/main">
            <a:r>
              <a:t>- https://www.gutenberg.org/policy/permission.html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German Course AI language-specific lab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seed data and tests in the local gca source tree.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optional AI path uses a local LM Studio endpoint. The token ledger stores usage metadata, not prompt or response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application source: gca/ai.py and gca/db.py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Delivery summary based on the packaged executable and automated test suite.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German Course AI local build output</a:t>
            </a:r>
          </a:p>
          <a:p xmlns:a="http://schemas.openxmlformats.org/drawingml/2006/main">
            <a:r>
              <a:t>- German Course AI pytest results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929b34aa046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c84ca9e826457f" /><Relationship Type="http://schemas.openxmlformats.org/officeDocument/2006/relationships/slideLayout" Target="/ppt/slideLayouts/slideLayout1.xml" Id="Rfc865ebd5cc244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65ebd5cc244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cd86aef614d04" /><Relationship Type="http://schemas.openxmlformats.org/officeDocument/2006/relationships/image" Target="/ppt/media/image.png" Id="R72289274b5e64b96" /><Relationship Type="http://schemas.openxmlformats.org/officeDocument/2006/relationships/notesSlide" Target="/ppt/notesSlides/notesSlide1.xml" Id="Rcd03c2f680214e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ed6dfc5df406f" /><Relationship Type="http://schemas.openxmlformats.org/officeDocument/2006/relationships/image" Target="/ppt/media/image.jpeg" Id="R0f3e55033af64b3d" /><Relationship Type="http://schemas.openxmlformats.org/officeDocument/2006/relationships/notesSlide" Target="/ppt/notesSlides/notesSlide2.xml" Id="R5a28aa6278d145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53cba262d448e" /><Relationship Type="http://schemas.openxmlformats.org/officeDocument/2006/relationships/notesSlide" Target="/ppt/notesSlides/notesSlide3.xml" Id="Rbfc041bdddf147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e693a8f114f1a" /><Relationship Type="http://schemas.openxmlformats.org/officeDocument/2006/relationships/notesSlide" Target="/ppt/notesSlides/notesSlide4.xml" Id="R033680e14efd40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f3124c1154e33" /><Relationship Type="http://schemas.openxmlformats.org/officeDocument/2006/relationships/notesSlide" Target="/ppt/notesSlides/notesSlide5.xml" Id="R56aad0b3232d4c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b2a922198455c" /><Relationship Type="http://schemas.openxmlformats.org/officeDocument/2006/relationships/notesSlide" Target="/ppt/notesSlides/notesSlide6.xml" Id="Rc9baedb9f18d44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ox-1">
            <a:extLst xmlns:a="http://schemas.openxmlformats.org/drawingml/2006/main">
              <a:ext uri="{FF2B5EF4-FFF2-40B4-BE49-F238E27FC236}">
                <a16:creationId xmlns:a16="http://schemas.microsoft.com/office/drawing/2014/main" id="{139C1B21-9F8D-4E4E-9520-5F2E6ED4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C5361F4-933E-4085-9150-F701953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GERMAN COURSE AI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EDAC175-15AE-489F-A1FB-B8B3C326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63BC0B5-6D2F-4EB8-B686-EA165F9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OFFLINE-FIRST WINDOWS LANGUAGE LEARNING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D4DC81A-C104-4B1C-924F-33D17A05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German Course AI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F3667E2-4B93-4190-B260-F81B87EC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Türkçe · English · Deutsch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679CAF3-7109-40AC-9C1B-B65F9D41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Yerel, ölçülebilir Almanca öğrenimi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231AC5C-C408-4641-A2C8-4A8F3E1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Local, measurable German learning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DE7905E-FD01-4D4D-A813-36DEB327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Lokales, messbares Deutschlernen</a:t>
            </a:r>
          </a:p>
        </p:txBody>
      </p:sp>
      <p:sp>
        <p:nvSpPr>
          <p:cNvPr id="10" name="box-10">
            <a:extLst xmlns:a="http://schemas.openxmlformats.org/drawingml/2006/main">
              <a:ext uri="{FF2B5EF4-FFF2-40B4-BE49-F238E27FC236}">
                <a16:creationId xmlns:a16="http://schemas.microsoft.com/office/drawing/2014/main" id="{D56071B0-EAEE-4B97-9A34-188AE468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144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19050">
            <a:solidFill>
              <a:srgbClr val="E8AE2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89274b5e64b96"/>
          <a:stretch xmlns:a="http://schemas.openxmlformats.org/drawingml/2006/main"/>
        </p:blipFill>
        <p:spPr>
          <a:xfrm xmlns:a="http://schemas.openxmlformats.org/drawingml/2006/main">
            <a:off x="8963025" y="1552575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532823E-EAFF-4D78-9CDA-6A8C6B6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Windows · Python · SQLite</a:t>
            </a:r>
          </a:p>
        </p:txBody>
      </p:sp>
    </p:spTree>
    <p:extLst>
      <p:ext uri="{BB962C8B-B14F-4D97-AF65-F5344CB8AC3E}">
        <p14:creationId xmlns:p14="http://schemas.microsoft.com/office/powerpoint/2010/main" val="1061628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ox-12">
            <a:extLst xmlns:a="http://schemas.openxmlformats.org/drawingml/2006/main">
              <a:ext uri="{FF2B5EF4-FFF2-40B4-BE49-F238E27FC236}">
                <a16:creationId xmlns:a16="http://schemas.microsoft.com/office/drawing/2014/main" id="{6BA5CB82-C4DE-431C-85D1-A00813C2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37F8E4AF-EB7A-41C5-8EE5-0D824CBD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GERMAN COURSE AI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50772582-9454-430C-A87C-D320296D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8894CEA1-B95B-44B3-8CDF-2F45746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Lernen ohne Reibung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485ADA50-925A-4F35-8C54-08B3CDC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Tek uygulama, üç arayüz</a:t>
            </a:r>
          </a:p>
        </p:txBody>
      </p:sp>
      <p:sp>
        <p:nvSpPr>
          <p:cNvPr id="6" name="text-17">
            <a:extLst xmlns:a="http://schemas.openxmlformats.org/drawingml/2006/main">
              <a:ext uri="{FF2B5EF4-FFF2-40B4-BE49-F238E27FC236}">
                <a16:creationId xmlns:a16="http://schemas.microsoft.com/office/drawing/2014/main" id="{E6D481B7-0256-4171-99CC-C95FFAB7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One app, three interfaces</a:t>
            </a:r>
          </a:p>
        </p:txBody>
      </p:sp>
      <p:sp>
        <p:nvSpPr>
          <p:cNvPr id="7" name="box-18">
            <a:extLst xmlns:a="http://schemas.openxmlformats.org/drawingml/2006/main">
              <a:ext uri="{FF2B5EF4-FFF2-40B4-BE49-F238E27FC236}">
                <a16:creationId xmlns:a16="http://schemas.microsoft.com/office/drawing/2014/main" id="{67A04007-D882-4C7F-AABF-2C0EDCA4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8" name="text-19">
            <a:extLst xmlns:a="http://schemas.openxmlformats.org/drawingml/2006/main">
              <a:ext uri="{FF2B5EF4-FFF2-40B4-BE49-F238E27FC236}">
                <a16:creationId xmlns:a16="http://schemas.microsoft.com/office/drawing/2014/main" id="{18EDB591-F019-4C9B-9B1C-7C62264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3810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 Bereiche verbinden Wiederholung, Wortschatz, Prüfung, Grammatik und Praxis in einem ruhigen Windows-Arbeitsraum.</a:t>
            </a:r>
          </a:p>
        </p:txBody>
      </p:sp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39843D61-9FE8-43C9-9A4A-7420D05A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Dil seçimi anında kaydedilir; uygulama çevrimdışı çalışmaya devam eder.</a:t>
            </a:r>
          </a:p>
        </p:txBody>
      </p:sp>
      <p:sp>
        <p:nvSpPr>
          <p:cNvPr id="10" name="text-21">
            <a:extLst xmlns:a="http://schemas.openxmlformats.org/drawingml/2006/main">
              <a:ext uri="{FF2B5EF4-FFF2-40B4-BE49-F238E27FC236}">
                <a16:creationId xmlns:a16="http://schemas.microsoft.com/office/drawing/2014/main" id="{31E89790-02BD-41B8-87A6-2C339AB9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The language choice persists instantly, and core learning stays available offline.</a:t>
            </a:r>
          </a:p>
        </p:txBody>
      </p:sp>
      <p:sp>
        <p:nvSpPr>
          <p:cNvPr id="11" name="box-22">
            <a:extLst xmlns:a="http://schemas.openxmlformats.org/drawingml/2006/main">
              <a:ext uri="{FF2B5EF4-FFF2-40B4-BE49-F238E27FC236}">
                <a16:creationId xmlns:a16="http://schemas.microsoft.com/office/drawing/2014/main" id="{2899F56B-F5F1-486D-8416-3329F3F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876300"/>
            <a:ext cx="72771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e55033af64b3d"/>
          <a:stretch xmlns:a="http://schemas.openxmlformats.org/drawingml/2006/main"/>
        </p:blipFill>
        <p:spPr>
          <a:xfrm xmlns:a="http://schemas.openxmlformats.org/drawingml/2006/main">
            <a:off x="4692997" y="1047750"/>
            <a:ext cx="6920805" cy="4533900"/>
          </a:xfrm>
          <a:prstGeom xmlns:a="http://schemas.openxmlformats.org/drawingml/2006/main" prst="rect">
            <a:avLst/>
          </a:prstGeom>
        </p:spPr>
      </p:pic>
      <p:sp>
        <p:nvSpPr>
          <p:cNvPr id="13" name="text-23">
            <a:extLst xmlns:a="http://schemas.openxmlformats.org/drawingml/2006/main">
              <a:ext uri="{FF2B5EF4-FFF2-40B4-BE49-F238E27FC236}">
                <a16:creationId xmlns:a16="http://schemas.microsoft.com/office/drawing/2014/main" id="{6298E69B-4AF4-4BEF-AE8B-C9E425D7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924550"/>
            <a:ext cx="693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Gerçek EXE ekranı · Real executable · Echte Anwendung</a:t>
            </a:r>
          </a:p>
        </p:txBody>
      </p:sp>
    </p:spTree>
    <p:extLst>
      <p:ext uri="{BB962C8B-B14F-4D97-AF65-F5344CB8AC3E}">
        <p14:creationId xmlns:p14="http://schemas.microsoft.com/office/powerpoint/2010/main" val="1116104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ox-24">
            <a:extLst xmlns:a="http://schemas.openxmlformats.org/drawingml/2006/main">
              <a:ext uri="{FF2B5EF4-FFF2-40B4-BE49-F238E27FC236}">
                <a16:creationId xmlns:a16="http://schemas.microsoft.com/office/drawing/2014/main" id="{785C1A73-BFDE-4131-9B76-79A0F2AF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0D7087E7-F568-4559-8C03-EA7EF678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GERMAN COURSE AI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E31C89F9-005B-46C1-AF94-04D1D0F4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EF1B1B87-1448-48EF-81C1-140BCD9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learning engine that remembers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1FD0BCC0-9E9C-4637-800F-ABCEB0C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Öğrenme motoru hatırlar · Die Lernmaschine merkt sich den Fortschritt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0CCEB4AA-BCD1-4CC9-BD39-A2FCBE65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TÜRKÇE</a:t>
            </a:r>
          </a:p>
        </p:txBody>
      </p:sp>
      <p:sp>
        <p:nvSpPr>
          <p:cNvPr id="7" name="box-30">
            <a:extLst xmlns:a="http://schemas.openxmlformats.org/drawingml/2006/main">
              <a:ext uri="{FF2B5EF4-FFF2-40B4-BE49-F238E27FC236}">
                <a16:creationId xmlns:a16="http://schemas.microsoft.com/office/drawing/2014/main" id="{DD5AD303-7742-4B16-BD0F-E57D4FD0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65EC0C35-C1F4-4C6F-B41C-C9D0082A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Her gün doğru sıra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2AFA887A-A4D5-4A91-9AEF-16011EA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SM-2 ve Leitner, yeni ve gecikmiş kartları günlük bir sıraya dönüştürür.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15A42E34-8285-4C3A-8EB0-576142CC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11" name="box-34">
            <a:extLst xmlns:a="http://schemas.openxmlformats.org/drawingml/2006/main">
              <a:ext uri="{FF2B5EF4-FFF2-40B4-BE49-F238E27FC236}">
                <a16:creationId xmlns:a16="http://schemas.microsoft.com/office/drawing/2014/main" id="{98015508-5830-434C-849C-5569682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01EDE3CE-087F-4BF3-B0CA-F341FF5D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81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Practice with evidence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A4C5D945-B0FE-4193-A339-98414090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6240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160 A1 entries, strict spelling, exams, favorites and mistakes share one SQLite record.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3A421B5B-CFAC-4F74-860C-F6DC462F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DEUTSCH</a:t>
            </a:r>
          </a:p>
        </p:txBody>
      </p:sp>
      <p:sp>
        <p:nvSpPr>
          <p:cNvPr id="15" name="box-38">
            <a:extLst xmlns:a="http://schemas.openxmlformats.org/drawingml/2006/main">
              <a:ext uri="{FF2B5EF4-FFF2-40B4-BE49-F238E27FC236}">
                <a16:creationId xmlns:a16="http://schemas.microsoft.com/office/drawing/2014/main" id="{5B3464BE-3E99-4A2F-BE99-0345620D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6" name="text-39">
            <a:extLst xmlns:a="http://schemas.openxmlformats.org/drawingml/2006/main">
              <a:ext uri="{FF2B5EF4-FFF2-40B4-BE49-F238E27FC236}">
                <a16:creationId xmlns:a16="http://schemas.microsoft.com/office/drawing/2014/main" id="{39B57AF5-14A9-44FE-AFA1-FB879E72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Fortschritt bleibt lokal</a:t>
            </a:r>
          </a:p>
        </p:txBody>
      </p:sp>
      <p:sp>
        <p:nvSpPr>
          <p:cNvPr id="17" name="text-40">
            <a:extLst xmlns:a="http://schemas.openxmlformats.org/drawingml/2006/main">
              <a:ext uri="{FF2B5EF4-FFF2-40B4-BE49-F238E27FC236}">
                <a16:creationId xmlns:a16="http://schemas.microsoft.com/office/drawing/2014/main" id="{6211E0DA-3DA2-4258-B41F-8E59D48F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6240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Wiederholung, Fehler, Favoriten und Prüfungen werden lokal und nachvollziehbar gespeichert.</a:t>
            </a:r>
          </a:p>
        </p:txBody>
      </p:sp>
      <p:sp>
        <p:nvSpPr>
          <p:cNvPr id="18" name="text-41">
            <a:extLst xmlns:a="http://schemas.openxmlformats.org/drawingml/2006/main">
              <a:ext uri="{FF2B5EF4-FFF2-40B4-BE49-F238E27FC236}">
                <a16:creationId xmlns:a16="http://schemas.microsoft.com/office/drawing/2014/main" id="{756113A7-D82A-4A4F-B738-2E181BDC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Kaynak kataloğu / resource catalog / Quellenkatalog: Wikibooks · Tatoeba · LibriVox · Project Gutenberg</a:t>
            </a:r>
          </a:p>
        </p:txBody>
      </p:sp>
    </p:spTree>
    <p:extLst>
      <p:ext uri="{BB962C8B-B14F-4D97-AF65-F5344CB8AC3E}">
        <p14:creationId xmlns:p14="http://schemas.microsoft.com/office/powerpoint/2010/main" val="6293336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ox-42">
            <a:extLst xmlns:a="http://schemas.openxmlformats.org/drawingml/2006/main">
              <a:ext uri="{FF2B5EF4-FFF2-40B4-BE49-F238E27FC236}">
                <a16:creationId xmlns:a16="http://schemas.microsoft.com/office/drawing/2014/main" id="{BBF8F542-F407-48E0-9EA1-9755DDF7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2" name="text-43">
            <a:extLst xmlns:a="http://schemas.openxmlformats.org/drawingml/2006/main">
              <a:ext uri="{FF2B5EF4-FFF2-40B4-BE49-F238E27FC236}">
                <a16:creationId xmlns:a16="http://schemas.microsoft.com/office/drawing/2014/main" id="{964B489B-3097-4938-8D73-BF5E64B7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GERMAN COURSE AI</a:t>
            </a:r>
          </a:p>
        </p:txBody>
      </p:sp>
      <p:sp>
        <p:nvSpPr>
          <p:cNvPr id="3" name="text-44">
            <a:extLst xmlns:a="http://schemas.openxmlformats.org/drawingml/2006/main">
              <a:ext uri="{FF2B5EF4-FFF2-40B4-BE49-F238E27FC236}">
                <a16:creationId xmlns:a16="http://schemas.microsoft.com/office/drawing/2014/main" id="{BEFE49F0-26BF-455A-89EF-4D3B73DF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4" name="text-45">
            <a:extLst xmlns:a="http://schemas.openxmlformats.org/drawingml/2006/main">
              <a:ext uri="{FF2B5EF4-FFF2-40B4-BE49-F238E27FC236}">
                <a16:creationId xmlns:a16="http://schemas.microsoft.com/office/drawing/2014/main" id="{2225137A-3D7F-4E04-A8EF-1E301736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Deutsch verdient präzise Werkzeuge</a:t>
            </a:r>
          </a:p>
        </p:txBody>
      </p:sp>
      <p:sp>
        <p:nvSpPr>
          <p:cNvPr id="5" name="text-46">
            <a:extLst xmlns:a="http://schemas.openxmlformats.org/drawingml/2006/main">
              <a:ext uri="{FF2B5EF4-FFF2-40B4-BE49-F238E27FC236}">
                <a16:creationId xmlns:a16="http://schemas.microsoft.com/office/drawing/2014/main" id="{1021882F-BD72-4E59-A583-5E24BF8E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Almancaya özgü laboratuvar  ·  A German-specific language lab</a:t>
            </a:r>
          </a:p>
        </p:txBody>
      </p:sp>
      <p:sp>
        <p:nvSpPr>
          <p:cNvPr id="6" name="box-47">
            <a:extLst xmlns:a="http://schemas.openxmlformats.org/drawingml/2006/main">
              <a:ext uri="{FF2B5EF4-FFF2-40B4-BE49-F238E27FC236}">
                <a16:creationId xmlns:a16="http://schemas.microsoft.com/office/drawing/2014/main" id="{E35444BD-BF71-442A-ABA8-1DB50969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text-48">
            <a:extLst xmlns:a="http://schemas.openxmlformats.org/drawingml/2006/main">
              <a:ext uri="{FF2B5EF4-FFF2-40B4-BE49-F238E27FC236}">
                <a16:creationId xmlns:a16="http://schemas.microsoft.com/office/drawing/2014/main" id="{0E4C7119-177B-411C-9FF2-3E3173FC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der Tisch · die Tische</a:t>
            </a:r>
          </a:p>
        </p:txBody>
      </p:sp>
      <p:sp>
        <p:nvSpPr>
          <p:cNvPr id="8" name="text-49">
            <a:extLst xmlns:a="http://schemas.openxmlformats.org/drawingml/2006/main">
              <a:ext uri="{FF2B5EF4-FFF2-40B4-BE49-F238E27FC236}">
                <a16:creationId xmlns:a16="http://schemas.microsoft.com/office/drawing/2014/main" id="{B6E7277E-FAE5-43B5-AB7F-1D289EC1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Artikel + çoğul birlikte · article and plural together · Artikel und Plural zusammen</a:t>
            </a:r>
          </a:p>
        </p:txBody>
      </p:sp>
      <p:sp>
        <p:nvSpPr>
          <p:cNvPr id="9" name="box-50">
            <a:extLst xmlns:a="http://schemas.openxmlformats.org/drawingml/2006/main">
              <a:ext uri="{FF2B5EF4-FFF2-40B4-BE49-F238E27FC236}">
                <a16:creationId xmlns:a16="http://schemas.microsoft.com/office/drawing/2014/main" id="{1BC37BA5-BD0B-4450-B8C6-2B9CDF22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text-51">
            <a:extLst xmlns:a="http://schemas.openxmlformats.org/drawingml/2006/main">
              <a:ext uri="{FF2B5EF4-FFF2-40B4-BE49-F238E27FC236}">
                <a16:creationId xmlns:a16="http://schemas.microsoft.com/office/drawing/2014/main" id="{10423DCE-94A9-4C2A-BF7C-90864CA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384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ä · ö · ü</a:t>
            </a:r>
          </a:p>
        </p:txBody>
      </p:sp>
      <p:sp>
        <p:nvSpPr>
          <p:cNvPr id="11" name="text-52">
            <a:extLst xmlns:a="http://schemas.openxmlformats.org/drawingml/2006/main">
              <a:ext uri="{FF2B5EF4-FFF2-40B4-BE49-F238E27FC236}">
                <a16:creationId xmlns:a16="http://schemas.microsoft.com/office/drawing/2014/main" id="{E610272D-B74B-4FB1-AEEC-70A9C80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Umlaut araması kontrollü · controlled umlaut search · kontrollierte Umlautsuche</a:t>
            </a:r>
          </a:p>
        </p:txBody>
      </p:sp>
      <p:sp>
        <p:nvSpPr>
          <p:cNvPr id="12" name="box-53">
            <a:extLst xmlns:a="http://schemas.openxmlformats.org/drawingml/2006/main">
              <a:ext uri="{FF2B5EF4-FFF2-40B4-BE49-F238E27FC236}">
                <a16:creationId xmlns:a16="http://schemas.microsoft.com/office/drawing/2014/main" id="{B80C276B-CD09-431C-8144-E900A386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C78B6E05-2B64-4598-96D4-615D97E7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Straße · Grüße</a:t>
            </a:r>
          </a:p>
        </p:txBody>
      </p:sp>
      <p:sp>
        <p:nvSpPr>
          <p:cNvPr id="14" name="text-55">
            <a:extLst xmlns:a="http://schemas.openxmlformats.org/drawingml/2006/main">
              <a:ext uri="{FF2B5EF4-FFF2-40B4-BE49-F238E27FC236}">
                <a16:creationId xmlns:a16="http://schemas.microsoft.com/office/drawing/2014/main" id="{FC33718F-5EC2-43B4-AE5D-A4059474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ß aramada esnek, yanıtta kesin · flexible search, strict answer · flexible Suche, genaue Antwort</a:t>
            </a:r>
          </a:p>
        </p:txBody>
      </p:sp>
      <p:sp>
        <p:nvSpPr>
          <p:cNvPr id="15" name="box-56">
            <a:extLst xmlns:a="http://schemas.openxmlformats.org/drawingml/2006/main">
              <a:ext uri="{FF2B5EF4-FFF2-40B4-BE49-F238E27FC236}">
                <a16:creationId xmlns:a16="http://schemas.microsoft.com/office/drawing/2014/main" id="{00891825-ED6E-4753-BD22-0011C77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text-57">
            <a:extLst xmlns:a="http://schemas.openxmlformats.org/drawingml/2006/main">
              <a:ext uri="{FF2B5EF4-FFF2-40B4-BE49-F238E27FC236}">
                <a16:creationId xmlns:a16="http://schemas.microsoft.com/office/drawing/2014/main" id="{9593AD3F-EA37-45C0-B58B-FD5C5CF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Ich heiße Alex.</a:t>
            </a:r>
          </a:p>
        </p:txBody>
      </p:sp>
      <p:sp>
        <p:nvSpPr>
          <p:cNvPr id="17" name="text-58">
            <a:extLst xmlns:a="http://schemas.openxmlformats.org/drawingml/2006/main">
              <a:ext uri="{FF2B5EF4-FFF2-40B4-BE49-F238E27FC236}">
                <a16:creationId xmlns:a16="http://schemas.microsoft.com/office/drawing/2014/main" id="{9C0B2FC0-80D8-414F-B64C-788A5790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530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Yazım ve ses eşleşir · spelling meets sound · Schrift trifft Laut</a:t>
            </a:r>
          </a:p>
        </p:txBody>
      </p:sp>
    </p:spTree>
    <p:extLst>
      <p:ext uri="{BB962C8B-B14F-4D97-AF65-F5344CB8AC3E}">
        <p14:creationId xmlns:p14="http://schemas.microsoft.com/office/powerpoint/2010/main" val="2143948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ox-59">
            <a:extLst xmlns:a="http://schemas.openxmlformats.org/drawingml/2006/main">
              <a:ext uri="{FF2B5EF4-FFF2-40B4-BE49-F238E27FC236}">
                <a16:creationId xmlns:a16="http://schemas.microsoft.com/office/drawing/2014/main" id="{CDC52F53-0815-4D53-99B3-492C965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2" name="text-60">
            <a:extLst xmlns:a="http://schemas.openxmlformats.org/drawingml/2006/main">
              <a:ext uri="{FF2B5EF4-FFF2-40B4-BE49-F238E27FC236}">
                <a16:creationId xmlns:a16="http://schemas.microsoft.com/office/drawing/2014/main" id="{2B16D6E0-349C-4A63-88B9-D0AD92E8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GERMAN COURSE AI</a:t>
            </a:r>
          </a:p>
        </p:txBody>
      </p:sp>
      <p:sp>
        <p:nvSpPr>
          <p:cNvPr id="3" name="text-61">
            <a:extLst xmlns:a="http://schemas.openxmlformats.org/drawingml/2006/main">
              <a:ext uri="{FF2B5EF4-FFF2-40B4-BE49-F238E27FC236}">
                <a16:creationId xmlns:a16="http://schemas.microsoft.com/office/drawing/2014/main" id="{8D1E7A65-F793-426E-90A6-6A32CAD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4" name="text-62">
            <a:extLst xmlns:a="http://schemas.openxmlformats.org/drawingml/2006/main">
              <a:ext uri="{FF2B5EF4-FFF2-40B4-BE49-F238E27FC236}">
                <a16:creationId xmlns:a16="http://schemas.microsoft.com/office/drawing/2014/main" id="{36316339-69E2-45B3-A7FE-1D24A553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 isteğe bağlı; mahremiyet varsayılan</a:t>
            </a:r>
          </a:p>
        </p:txBody>
      </p:sp>
      <p:sp>
        <p:nvSpPr>
          <p:cNvPr id="5" name="text-63">
            <a:extLst xmlns:a="http://schemas.openxmlformats.org/drawingml/2006/main">
              <a:ext uri="{FF2B5EF4-FFF2-40B4-BE49-F238E27FC236}">
                <a16:creationId xmlns:a16="http://schemas.microsoft.com/office/drawing/2014/main" id="{D32BE33D-BED4-414D-9FCA-D5AC48CB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AI is optional; privacy is the default  ·  KI ist optional; Datenschutz ist Standard</a:t>
            </a:r>
          </a:p>
        </p:txBody>
      </p:sp>
      <p:sp>
        <p:nvSpPr>
          <p:cNvPr id="6" name="box-64">
            <a:extLst xmlns:a="http://schemas.openxmlformats.org/drawingml/2006/main">
              <a:ext uri="{FF2B5EF4-FFF2-40B4-BE49-F238E27FC236}">
                <a16:creationId xmlns:a16="http://schemas.microsoft.com/office/drawing/2014/main" id="{3167286F-5955-46C4-9D3A-FD6273D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dot-65">
            <a:extLst xmlns:a="http://schemas.openxmlformats.org/drawingml/2006/main">
              <a:ext uri="{FF2B5EF4-FFF2-40B4-BE49-F238E27FC236}">
                <a16:creationId xmlns:a16="http://schemas.microsoft.com/office/drawing/2014/main" id="{23C29A9D-74C3-4E73-B7AA-5F30AF8E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66">
            <a:extLst xmlns:a="http://schemas.openxmlformats.org/drawingml/2006/main">
              <a:ext uri="{FF2B5EF4-FFF2-40B4-BE49-F238E27FC236}">
                <a16:creationId xmlns:a16="http://schemas.microsoft.com/office/drawing/2014/main" id="{4C0B7532-569F-4DA5-A49D-22D9BADD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01 · CONTEXT</a:t>
            </a:r>
          </a:p>
        </p:txBody>
      </p:sp>
      <p:sp>
        <p:nvSpPr>
          <p:cNvPr id="9" name="text-67">
            <a:extLst xmlns:a="http://schemas.openxmlformats.org/drawingml/2006/main">
              <a:ext uri="{FF2B5EF4-FFF2-40B4-BE49-F238E27FC236}">
                <a16:creationId xmlns:a16="http://schemas.microsoft.com/office/drawing/2014/main" id="{F6C43AF8-BEAB-4843-8EF3-D3C05791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Öğrenci bağlamı</a:t>
            </a:r>
          </a:p>
        </p:txBody>
      </p:sp>
      <p:sp>
        <p:nvSpPr>
          <p:cNvPr id="10" name="text-68">
            <a:extLst xmlns:a="http://schemas.openxmlformats.org/drawingml/2006/main">
              <a:ext uri="{FF2B5EF4-FFF2-40B4-BE49-F238E27FC236}">
                <a16:creationId xmlns:a16="http://schemas.microsoft.com/office/drawing/2014/main" id="{39A3C2EF-5E90-4F61-9765-2E60F4B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Seviye, hedef ve etkin çalışma uygulama içinde derlenir.</a:t>
            </a:r>
          </a:p>
        </p:txBody>
      </p:sp>
      <p:sp>
        <p:nvSpPr>
          <p:cNvPr id="11" name="dot-69">
            <a:extLst xmlns:a="http://schemas.openxmlformats.org/drawingml/2006/main">
              <a:ext uri="{FF2B5EF4-FFF2-40B4-BE49-F238E27FC236}">
                <a16:creationId xmlns:a16="http://schemas.microsoft.com/office/drawing/2014/main" id="{A256F181-DA1A-4C54-B5E6-B3234102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70">
            <a:extLst xmlns:a="http://schemas.openxmlformats.org/drawingml/2006/main">
              <a:ext uri="{FF2B5EF4-FFF2-40B4-BE49-F238E27FC236}">
                <a16:creationId xmlns:a16="http://schemas.microsoft.com/office/drawing/2014/main" id="{E1C0027F-322E-4D91-84F2-C27E74C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02 · LOCAL MODEL</a:t>
            </a:r>
          </a:p>
        </p:txBody>
      </p:sp>
      <p:sp>
        <p:nvSpPr>
          <p:cNvPr id="13" name="text-71">
            <a:extLst xmlns:a="http://schemas.openxmlformats.org/drawingml/2006/main">
              <a:ext uri="{FF2B5EF4-FFF2-40B4-BE49-F238E27FC236}">
                <a16:creationId xmlns:a16="http://schemas.microsoft.com/office/drawing/2014/main" id="{A59CADED-6F62-4CD7-B5C4-11CF7A6C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LM Studio</a:t>
            </a:r>
          </a:p>
        </p:txBody>
      </p:sp>
      <p:sp>
        <p:nvSpPr>
          <p:cNvPr id="14" name="text-72">
            <a:extLst xmlns:a="http://schemas.openxmlformats.org/drawingml/2006/main">
              <a:ext uri="{FF2B5EF4-FFF2-40B4-BE49-F238E27FC236}">
                <a16:creationId xmlns:a16="http://schemas.microsoft.com/office/drawing/2014/main" id="{0249D5E8-5E03-4496-B435-71669E1A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81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İstek yalnızca yerel uç noktaya gider; bağlantı yoksa akış güvenle kapanır.</a:t>
            </a:r>
          </a:p>
        </p:txBody>
      </p:sp>
      <p:sp>
        <p:nvSpPr>
          <p:cNvPr id="15" name="dot-73">
            <a:extLst xmlns:a="http://schemas.openxmlformats.org/drawingml/2006/main">
              <a:ext uri="{FF2B5EF4-FFF2-40B4-BE49-F238E27FC236}">
                <a16:creationId xmlns:a16="http://schemas.microsoft.com/office/drawing/2014/main" id="{524D57E7-7418-40A1-B0EF-A045AF90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74">
            <a:extLst xmlns:a="http://schemas.openxmlformats.org/drawingml/2006/main">
              <a:ext uri="{FF2B5EF4-FFF2-40B4-BE49-F238E27FC236}">
                <a16:creationId xmlns:a16="http://schemas.microsoft.com/office/drawing/2014/main" id="{44DBF1DD-6026-46EB-8BE3-2FE75C7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03 · RECORD</a:t>
            </a:r>
          </a:p>
        </p:txBody>
      </p:sp>
      <p:sp>
        <p:nvSpPr>
          <p:cNvPr id="17" name="text-75">
            <a:extLst xmlns:a="http://schemas.openxmlformats.org/drawingml/2006/main">
              <a:ext uri="{FF2B5EF4-FFF2-40B4-BE49-F238E27FC236}">
                <a16:creationId xmlns:a16="http://schemas.microsoft.com/office/drawing/2014/main" id="{105AC89A-2EE1-4F5C-9075-A6D5E7C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Güvenli kayıt</a:t>
            </a:r>
          </a:p>
        </p:txBody>
      </p:sp>
      <p:sp>
        <p:nvSpPr>
          <p:cNvPr id="18" name="text-76">
            <a:extLst xmlns:a="http://schemas.openxmlformats.org/drawingml/2006/main">
              <a:ext uri="{FF2B5EF4-FFF2-40B4-BE49-F238E27FC236}">
                <a16:creationId xmlns:a16="http://schemas.microsoft.com/office/drawing/2014/main" id="{4FF73705-EDA9-4364-9C29-9FB3792C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Yalnızca süre, token sayısı ve durum tutulur; konuşma metni tutulmaz.</a:t>
            </a:r>
          </a:p>
        </p:txBody>
      </p:sp>
      <p:sp>
        <p:nvSpPr>
          <p:cNvPr id="19" name="box-77">
            <a:extLst xmlns:a="http://schemas.openxmlformats.org/drawingml/2006/main">
              <a:ext uri="{FF2B5EF4-FFF2-40B4-BE49-F238E27FC236}">
                <a16:creationId xmlns:a16="http://schemas.microsoft.com/office/drawing/2014/main" id="{4C600D6B-1326-49B0-A82B-565B0748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F"/>
          </a:solidFill>
          <a:ln xmlns:a="http://schemas.openxmlformats.org/drawingml/2006/main" w="0">
            <a:solidFill>
              <a:srgbClr val="FFF3CF"/>
            </a:solidFill>
            <a:prstDash val="solid"/>
          </a:ln>
        </p:spPr>
      </p:sp>
      <p:sp>
        <p:nvSpPr>
          <p:cNvPr id="20" name="text-78">
            <a:extLst xmlns:a="http://schemas.openxmlformats.org/drawingml/2006/main">
              <a:ext uri="{FF2B5EF4-FFF2-40B4-BE49-F238E27FC236}">
                <a16:creationId xmlns:a16="http://schemas.microsoft.com/office/drawing/2014/main" id="{87FB96E6-2CC0-4C42-96D7-7F90F3A2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76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Çevrimdışı çekirdek / Offline core / Offline-Kern — AI kapalıyken de tüm temel çalışma akışları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1522194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ox-79">
            <a:extLst xmlns:a="http://schemas.openxmlformats.org/drawingml/2006/main">
              <a:ext uri="{FF2B5EF4-FFF2-40B4-BE49-F238E27FC236}">
                <a16:creationId xmlns:a16="http://schemas.microsoft.com/office/drawing/2014/main" id="{DE7D0D61-9E38-4130-A1FF-DFD2215F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894F8F5C-8CE0-4163-9281-EBF4BB5D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TESLİME HAZIR · READY TO DELIVER · BEREIT ZUR AUSLIEFERUNG</a:t>
            </a:r>
          </a:p>
        </p:txBody>
      </p:sp>
      <p:sp>
        <p:nvSpPr>
          <p:cNvPr id="3" name="text-81">
            <a:extLst xmlns:a="http://schemas.openxmlformats.org/drawingml/2006/main">
              <a:ext uri="{FF2B5EF4-FFF2-40B4-BE49-F238E27FC236}">
                <a16:creationId xmlns:a16="http://schemas.microsoft.com/office/drawing/2014/main" id="{3B15F3D2-31E8-4D7D-9DFE-7619BB17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Hazır.</a:t>
            </a:r>
          </a:p>
        </p:txBody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AD261D4E-1470-4D9E-91D7-ADE96E79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Ready.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60E33097-20B9-43D0-BA57-C6C4462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Bereit.</a:t>
            </a:r>
          </a:p>
        </p:txBody>
      </p:sp>
      <p:sp>
        <p:nvSpPr>
          <p:cNvPr id="6" name="text-84">
            <a:extLst xmlns:a="http://schemas.openxmlformats.org/drawingml/2006/main">
              <a:ext uri="{FF2B5EF4-FFF2-40B4-BE49-F238E27FC236}">
                <a16:creationId xmlns:a16="http://schemas.microsoft.com/office/drawing/2014/main" id="{4DA00D95-779E-43C4-82DD-8513EC9C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Bağımsız Windows uygulaması, belgeler, testler ve sunum tek pakette.</a:t>
            </a:r>
          </a:p>
        </p:txBody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F5C55E1F-9DFC-4CE4-A0F0-9580E8C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9A65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A6500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8" name="text-86">
            <a:extLst xmlns:a="http://schemas.openxmlformats.org/drawingml/2006/main">
              <a:ext uri="{FF2B5EF4-FFF2-40B4-BE49-F238E27FC236}">
                <a16:creationId xmlns:a16="http://schemas.microsoft.com/office/drawing/2014/main" id="{48B8FE2A-BD14-4766-A0D5-602F5126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29 / 29</a:t>
            </a:r>
          </a:p>
        </p:txBody>
      </p:sp>
      <p:sp>
        <p:nvSpPr>
          <p:cNvPr id="9" name="text-87">
            <a:extLst xmlns:a="http://schemas.openxmlformats.org/drawingml/2006/main">
              <a:ext uri="{FF2B5EF4-FFF2-40B4-BE49-F238E27FC236}">
                <a16:creationId xmlns:a16="http://schemas.microsoft.com/office/drawing/2014/main" id="{6E4E02FA-E5A2-4110-9712-D5A799A7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10" name="text-88">
            <a:extLst xmlns:a="http://schemas.openxmlformats.org/drawingml/2006/main">
              <a:ext uri="{FF2B5EF4-FFF2-40B4-BE49-F238E27FC236}">
                <a16:creationId xmlns:a16="http://schemas.microsoft.com/office/drawing/2014/main" id="{37A5BA4D-8565-4B54-AFB7-F34BB2D6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benzersiz A1 kelime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unique A1 words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eindeutige A1-Wörter</a:t>
            </a:r>
          </a:p>
        </p:txBody>
      </p:sp>
      <p:sp>
        <p:nvSpPr>
          <p:cNvPr id="11" name="text-89">
            <a:extLst xmlns:a="http://schemas.openxmlformats.org/drawingml/2006/main">
              <a:ext uri="{FF2B5EF4-FFF2-40B4-BE49-F238E27FC236}">
                <a16:creationId xmlns:a16="http://schemas.microsoft.com/office/drawing/2014/main" id="{DCC6D4BF-B6F0-47EA-ABF0-C2D61096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otomatik test geçti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automated tests passed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automatische Tests bestanden</a:t>
            </a:r>
          </a:p>
        </p:txBody>
      </p:sp>
      <p:sp>
        <p:nvSpPr>
          <p:cNvPr id="12" name="text-90">
            <a:extLst xmlns:a="http://schemas.openxmlformats.org/drawingml/2006/main">
              <a:ext uri="{FF2B5EF4-FFF2-40B4-BE49-F238E27FC236}">
                <a16:creationId xmlns:a16="http://schemas.microsoft.com/office/drawing/2014/main" id="{D2BB7972-5B4E-49D9-BD57-A77958E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öğrenme alanı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learning areas</a:t>
            </a:r>
          </a:p>
          <a:p xmlns:a="http://schemas.openxmlformats.org/drawingml/2006/main">
            <a:pPr algn="l">
              <a:defRPr sz="12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Lernbereiche</a:t>
            </a:r>
          </a:p>
        </p:txBody>
      </p:sp>
      <p:sp>
        <p:nvSpPr>
          <p:cNvPr id="13" name="box-91">
            <a:extLst xmlns:a="http://schemas.openxmlformats.org/drawingml/2006/main">
              <a:ext uri="{FF2B5EF4-FFF2-40B4-BE49-F238E27FC236}">
                <a16:creationId xmlns:a16="http://schemas.microsoft.com/office/drawing/2014/main" id="{86B9DACC-BD94-43A4-87B9-D0FD40B7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E2E"/>
          </a:solidFill>
          <a:ln xmlns:a="http://schemas.openxmlformats.org/drawingml/2006/main" w="0">
            <a:solidFill>
              <a:srgbClr val="E8AE2E"/>
            </a:solidFill>
            <a:prstDash val="solid"/>
          </a:ln>
        </p:spPr>
      </p:sp>
      <p:sp>
        <p:nvSpPr>
          <p:cNvPr id="14" name="text-92">
            <a:extLst xmlns:a="http://schemas.openxmlformats.org/drawingml/2006/main">
              <a:ext uri="{FF2B5EF4-FFF2-40B4-BE49-F238E27FC236}">
                <a16:creationId xmlns:a16="http://schemas.microsoft.com/office/drawing/2014/main" id="{035ADF0B-1EA4-4D97-BF8E-E64E747F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EXE + source + docs + private GitHub + trilingual deck · EXE + kaynak + belgeler + özel GitHub + üç dilli sunum</a:t>
            </a:r>
          </a:p>
        </p:txBody>
      </p:sp>
    </p:spTree>
    <p:extLst>
      <p:ext uri="{BB962C8B-B14F-4D97-AF65-F5344CB8AC3E}">
        <p14:creationId xmlns:p14="http://schemas.microsoft.com/office/powerpoint/2010/main" val="13416672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2026-08-31T05:55:37.2590000Z</dcterms:created>
  <dcterms:modified xsi:type="dcterms:W3CDTF">2026-08-31T05:55:37.2590000Z</dcterms:modified>
</coreProperties>
</file>