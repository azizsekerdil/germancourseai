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335925889b24467" /><Relationship Type="http://schemas.openxmlformats.org/officeDocument/2006/relationships/extended-properties" Target="/docProps/app.xml" Id="R6cce0c580e7a4c50" /><Relationship Type="http://schemas.openxmlformats.org/officeDocument/2006/relationships/officeDocument" Target="/ppt/presentation.xml" Id="Rf14ffd570eb7473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358ece5affd4ade"/>
  </p:sldMasterIdLst>
  <p:notesMasterIdLst>
    <p:notesMasterId xmlns:r="http://schemas.openxmlformats.org/officeDocument/2006/relationships" r:id="Reb202cd08b7b48e4"/>
  </p:notesMasterIdLst>
  <p:sldIdLst>
    <p:sldId xmlns:r="http://schemas.openxmlformats.org/officeDocument/2006/relationships" id="256" r:id="R5affc5769c914c3a"/>
    <p:sldId xmlns:r="http://schemas.openxmlformats.org/officeDocument/2006/relationships" id="257" r:id="R75ea97c7114f456c"/>
    <p:sldId xmlns:r="http://schemas.openxmlformats.org/officeDocument/2006/relationships" id="258" r:id="R1ff8e132df464c2b"/>
    <p:sldId xmlns:r="http://schemas.openxmlformats.org/officeDocument/2006/relationships" id="259" r:id="R98786711e9b442bb"/>
    <p:sldId xmlns:r="http://schemas.openxmlformats.org/officeDocument/2006/relationships" id="260" r:id="R3fd73e6011b045b4"/>
    <p:sldId xmlns:r="http://schemas.openxmlformats.org/officeDocument/2006/relationships" id="261" r:id="R451262457a3f433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abd5c52986a410b" /><Relationship Type="http://schemas.openxmlformats.org/officeDocument/2006/relationships/slideMaster" Target="/ppt/slideMasters/slideMaster1.xml" Id="Re358ece5affd4ade" /><Relationship Type="http://schemas.openxmlformats.org/officeDocument/2006/relationships/notesMaster" Target="/ppt/notesMasters/notesMaster1.xml" Id="Reb202cd08b7b48e4" /><Relationship Type="http://schemas.openxmlformats.org/officeDocument/2006/relationships/presProps" Target="/ppt/presProps.xml" Id="R16c1bff9939343f3" /><Relationship Type="http://schemas.openxmlformats.org/officeDocument/2006/relationships/tableStyles" Target="/ppt/tableStyles.xml" Id="Rd42af9eab3ba457f" /><Relationship Type="http://schemas.openxmlformats.org/officeDocument/2006/relationships/slide" Target="/ppt/slides/slide1.xml" Id="R5affc5769c914c3a" /><Relationship Type="http://schemas.openxmlformats.org/officeDocument/2006/relationships/slide" Target="/ppt/slides/slide2.xml" Id="R75ea97c7114f456c" /><Relationship Type="http://schemas.openxmlformats.org/officeDocument/2006/relationships/slide" Target="/ppt/slides/slide3.xml" Id="R1ff8e132df464c2b" /><Relationship Type="http://schemas.openxmlformats.org/officeDocument/2006/relationships/slide" Target="/ppt/slides/slide4.xml" Id="R98786711e9b442bb" /><Relationship Type="http://schemas.openxmlformats.org/officeDocument/2006/relationships/slide" Target="/ppt/slides/slide5.xml" Id="R3fd73e6011b045b4" /><Relationship Type="http://schemas.openxmlformats.org/officeDocument/2006/relationships/slide" Target="/ppt/slides/slide6.xml" Id="R451262457a3f43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7fc4098d8d40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320eec1f19a4e39" /><Relationship Type="http://schemas.openxmlformats.org/officeDocument/2006/relationships/notesMaster" Target="/ppt/notesMasters/notesMaster1.xml" Id="Ra31693a7f6454a0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f3190b6bafa451f" /><Relationship Type="http://schemas.openxmlformats.org/officeDocument/2006/relationships/notesMaster" Target="/ppt/notesMasters/notesMaster1.xml" Id="R0fc340d6780c45f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e743f6535744ded" /><Relationship Type="http://schemas.openxmlformats.org/officeDocument/2006/relationships/notesMaster" Target="/ppt/notesMasters/notesMaster1.xml" Id="R08da648a5dea4f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e6a40135d54ae3" /><Relationship Type="http://schemas.openxmlformats.org/officeDocument/2006/relationships/notesMaster" Target="/ppt/notesMasters/notesMaster1.xml" Id="R51f5eee44059416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9037ddbfe2340cf" /><Relationship Type="http://schemas.openxmlformats.org/officeDocument/2006/relationships/notesMaster" Target="/ppt/notesMasters/notesMaster1.xml" Id="R51b2d3147a3f44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1f8c41938f4aa2" /><Relationship Type="http://schemas.openxmlformats.org/officeDocument/2006/relationships/notesMaster" Target="/ppt/notesMasters/notesMaster1.xml" Id="R4bcdb2a4b9d14f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German Course AI overview.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icon generated for this project: D:/GE_FR/GermanCourseAI/assets/app-final.png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real screenshot captured from the packaged Windows executable.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screenshot: D:/GE_FR/GermanCourseAI/docs/presentation/assets/german-course-ai-screenshot.jpg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Learning engine and openly licensed resource catalog.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https://en.wikibooks.org/wiki/German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German Course AI language-specific lab examples.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seed data and tests in the local gca source tree.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optional AI path uses a local LM Studio endpoint. The token ledger stores usage metadata, not prompt or response 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source: gca/ai.py and gca/db.py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Delivery summary based on the packaged executable and automated test suite.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German Course AI local build output</a:t>
            </a:r>
          </a:p>
          <a:p xmlns:a="http://schemas.openxmlformats.org/drawingml/2006/main">
            <a:r>
              <a:t>- German Course AI pytest results</a:t>
            </a:r>
          </a:p>
          <a:p xmlns:a="http://schemas.openxmlformats.org/drawingml/2006/main">
            <a:r>
              <a:t>- https://github.com/Azizsekerdil/GermanCourseAI/releases/tag/v1.2.1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9a70109c3747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18335362b964a6c" /><Relationship Type="http://schemas.openxmlformats.org/officeDocument/2006/relationships/slideLayout" Target="/ppt/slideLayouts/slideLayout1.xml" Id="Rf03c2eb47eb04ce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03c2eb47eb04ce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9a6acaff9a4e39" /><Relationship Type="http://schemas.openxmlformats.org/officeDocument/2006/relationships/image" Target="/ppt/media/image.png" Id="R5bd7f3fd10754239" /><Relationship Type="http://schemas.openxmlformats.org/officeDocument/2006/relationships/notesSlide" Target="/ppt/notesSlides/notesSlide1.xml" Id="Rbe843bd1adc14ea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6deb8abab34fbe" /><Relationship Type="http://schemas.openxmlformats.org/officeDocument/2006/relationships/image" Target="/ppt/media/image.jpeg" Id="R80f9d0006ab94b0c" /><Relationship Type="http://schemas.openxmlformats.org/officeDocument/2006/relationships/notesSlide" Target="/ppt/notesSlides/notesSlide2.xml" Id="R0d11a88048e3439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5022aace694fac" /><Relationship Type="http://schemas.openxmlformats.org/officeDocument/2006/relationships/notesSlide" Target="/ppt/notesSlides/notesSlide3.xml" Id="Rca76a72971494d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b8cf80f95a4d36" /><Relationship Type="http://schemas.openxmlformats.org/officeDocument/2006/relationships/notesSlide" Target="/ppt/notesSlides/notesSlide4.xml" Id="R346793d7e0be4a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589ca90a2b4273" /><Relationship Type="http://schemas.openxmlformats.org/officeDocument/2006/relationships/notesSlide" Target="/ppt/notesSlides/notesSlide5.xml" Id="Rd45114593a55440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8080c03c2d43e6" /><Relationship Type="http://schemas.openxmlformats.org/officeDocument/2006/relationships/notesSlide" Target="/ppt/notesSlides/notesSlide6.xml" Id="R84b593edea26411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ox-1">
            <a:extLst xmlns:a="http://schemas.openxmlformats.org/drawingml/2006/main">
              <a:ext uri="{FF2B5EF4-FFF2-40B4-BE49-F238E27FC236}">
                <a16:creationId xmlns:a16="http://schemas.microsoft.com/office/drawing/2014/main" id="{D185A3FD-89D1-4702-994B-5BD5ECEC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9438853F-A2CE-4223-A978-0B7EADF9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51834263-BE91-489C-9720-28B5668BC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01 / 06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F93AAA44-947E-45DA-8352-ECEB8686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OFFLINE-FIRST WINDOWS LANGUAGE LEARNING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4FDDD9F2-1C3C-4D15-AC3E-A7811B14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819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6" name="text-6">
            <a:extLst xmlns:a="http://schemas.openxmlformats.org/drawingml/2006/main">
              <a:ext uri="{FF2B5EF4-FFF2-40B4-BE49-F238E27FC236}">
                <a16:creationId xmlns:a16="http://schemas.microsoft.com/office/drawing/2014/main" id="{9BAB606D-B095-4302-B4A5-FD540D0EB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432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Türkçe · English · Deutsch</a:t>
            </a:r>
          </a:p>
        </p:txBody>
      </p:sp>
      <p:sp>
        <p:nvSpPr>
          <p:cNvPr id="7" name="text-7">
            <a:extLst xmlns:a="http://schemas.openxmlformats.org/drawingml/2006/main">
              <a:ext uri="{FF2B5EF4-FFF2-40B4-BE49-F238E27FC236}">
                <a16:creationId xmlns:a16="http://schemas.microsoft.com/office/drawing/2014/main" id="{140B51A5-C10C-40DE-BD1B-EAB77780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Yerel, ölçülebilir Almanca öğrenimi</a:t>
            </a:r>
          </a:p>
        </p:txBody>
      </p:sp>
      <p:sp>
        <p:nvSpPr>
          <p:cNvPr id="8" name="text-8">
            <a:extLst xmlns:a="http://schemas.openxmlformats.org/drawingml/2006/main">
              <a:ext uri="{FF2B5EF4-FFF2-40B4-BE49-F238E27FC236}">
                <a16:creationId xmlns:a16="http://schemas.microsoft.com/office/drawing/2014/main" id="{A41ACCD0-912F-4256-9983-5DA9E60A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Local, measurable German learning</a:t>
            </a:r>
          </a:p>
        </p:txBody>
      </p:sp>
      <p:sp>
        <p:nvSpPr>
          <p:cNvPr id="9" name="text-9">
            <a:extLst xmlns:a="http://schemas.openxmlformats.org/drawingml/2006/main">
              <a:ext uri="{FF2B5EF4-FFF2-40B4-BE49-F238E27FC236}">
                <a16:creationId xmlns:a16="http://schemas.microsoft.com/office/drawing/2014/main" id="{F3F480A2-B63A-4A6A-98AB-AA02E978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Lokales, messbares Deutschlernen</a:t>
            </a:r>
          </a:p>
        </p:txBody>
      </p:sp>
      <p:sp>
        <p:nvSpPr>
          <p:cNvPr id="10" name="box-10">
            <a:extLst xmlns:a="http://schemas.openxmlformats.org/drawingml/2006/main">
              <a:ext uri="{FF2B5EF4-FFF2-40B4-BE49-F238E27FC236}">
                <a16:creationId xmlns:a16="http://schemas.microsoft.com/office/drawing/2014/main" id="{9F069B1B-7148-4A2A-B932-68652FAC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3144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19050">
            <a:solidFill>
              <a:srgbClr val="E8AE2E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d7f3fd10754239"/>
          <a:stretch xmlns:a="http://schemas.openxmlformats.org/drawingml/2006/main"/>
        </p:blipFill>
        <p:spPr>
          <a:xfrm xmlns:a="http://schemas.openxmlformats.org/drawingml/2006/main">
            <a:off x="8963025" y="1552575"/>
            <a:ext cx="1905000" cy="1905000"/>
          </a:xfrm>
          <a:prstGeom xmlns:a="http://schemas.openxmlformats.org/drawingml/2006/main" prst="rect">
            <a:avLst/>
          </a:prstGeom>
        </p:spPr>
      </p:pic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8EACBFB9-EF57-443B-9EDC-FF3E5F18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00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x64 · macOS arm64</a:t>
            </a:r>
          </a:p>
        </p:txBody>
      </p:sp>
    </p:spTree>
    <p:extLst>
      <p:ext uri="{BB962C8B-B14F-4D97-AF65-F5344CB8AC3E}">
        <p14:creationId xmlns:p14="http://schemas.microsoft.com/office/powerpoint/2010/main" val="4313532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box-12">
            <a:extLst xmlns:a="http://schemas.openxmlformats.org/drawingml/2006/main">
              <a:ext uri="{FF2B5EF4-FFF2-40B4-BE49-F238E27FC236}">
                <a16:creationId xmlns:a16="http://schemas.microsoft.com/office/drawing/2014/main" id="{2BF97F7D-DD76-40E5-B670-D03A61C6F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13">
            <a:extLst xmlns:a="http://schemas.openxmlformats.org/drawingml/2006/main">
              <a:ext uri="{FF2B5EF4-FFF2-40B4-BE49-F238E27FC236}">
                <a16:creationId xmlns:a16="http://schemas.microsoft.com/office/drawing/2014/main" id="{D2DFCBE1-DABE-4BB6-96C4-34B23B49E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14">
            <a:extLst xmlns:a="http://schemas.openxmlformats.org/drawingml/2006/main">
              <a:ext uri="{FF2B5EF4-FFF2-40B4-BE49-F238E27FC236}">
                <a16:creationId xmlns:a16="http://schemas.microsoft.com/office/drawing/2014/main" id="{C10040D0-63D6-4019-95D8-D8B8E3AB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02 / 06</a:t>
            </a:r>
          </a:p>
        </p:txBody>
      </p:sp>
      <p:sp>
        <p:nvSpPr>
          <p:cNvPr id="4" name="text-15">
            <a:extLst xmlns:a="http://schemas.openxmlformats.org/drawingml/2006/main">
              <a:ext uri="{FF2B5EF4-FFF2-40B4-BE49-F238E27FC236}">
                <a16:creationId xmlns:a16="http://schemas.microsoft.com/office/drawing/2014/main" id="{DAF56BD5-39E6-4B10-B214-99E0D9F75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4095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Lernen ohne Reibung</a:t>
            </a:r>
          </a:p>
        </p:txBody>
      </p:sp>
      <p:sp>
        <p:nvSpPr>
          <p:cNvPr id="5" name="text-16">
            <a:extLst xmlns:a="http://schemas.openxmlformats.org/drawingml/2006/main">
              <a:ext uri="{FF2B5EF4-FFF2-40B4-BE49-F238E27FC236}">
                <a16:creationId xmlns:a16="http://schemas.microsoft.com/office/drawing/2014/main" id="{B0BFC62E-038D-441C-AC4F-0CF8F5429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Tek uygulama, üç arayüz</a:t>
            </a:r>
          </a:p>
        </p:txBody>
      </p:sp>
      <p:sp>
        <p:nvSpPr>
          <p:cNvPr id="6" name="text-17">
            <a:extLst xmlns:a="http://schemas.openxmlformats.org/drawingml/2006/main">
              <a:ext uri="{FF2B5EF4-FFF2-40B4-BE49-F238E27FC236}">
                <a16:creationId xmlns:a16="http://schemas.microsoft.com/office/drawing/2014/main" id="{D22674FD-7962-4247-A9F7-1751CA28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One app, three interfaces</a:t>
            </a:r>
          </a:p>
        </p:txBody>
      </p:sp>
      <p:sp>
        <p:nvSpPr>
          <p:cNvPr id="7" name="box-18">
            <a:extLst xmlns:a="http://schemas.openxmlformats.org/drawingml/2006/main">
              <a:ext uri="{FF2B5EF4-FFF2-40B4-BE49-F238E27FC236}">
                <a16:creationId xmlns:a16="http://schemas.microsoft.com/office/drawing/2014/main" id="{B405E268-BB44-4CF0-A926-56176A7D0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09850"/>
            <a:ext cx="3600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8" name="text-19">
            <a:extLst xmlns:a="http://schemas.openxmlformats.org/drawingml/2006/main">
              <a:ext uri="{FF2B5EF4-FFF2-40B4-BE49-F238E27FC236}">
                <a16:creationId xmlns:a16="http://schemas.microsoft.com/office/drawing/2014/main" id="{FAABA3D5-727B-44F5-8164-B3136E7A5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3810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 Bereiche verbinden Wiederholung, Wortschatz, ein dreisprachiges Wörterbuch DE-EN-TR, Prüfung, Grammatik und Praxis in einem ruhigen Windows-Arbeitsraum.</a:t>
            </a:r>
          </a:p>
        </p:txBody>
      </p:sp>
      <p:sp>
        <p:nvSpPr>
          <p:cNvPr id="9" name="text-20">
            <a:extLst xmlns:a="http://schemas.openxmlformats.org/drawingml/2006/main">
              <a:ext uri="{FF2B5EF4-FFF2-40B4-BE49-F238E27FC236}">
                <a16:creationId xmlns:a16="http://schemas.microsoft.com/office/drawing/2014/main" id="{85AB5257-3E79-4706-9552-07900E4AE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Dil seçimi anında kaydedilir; uygulama çevrimdışı çalışmaya devam eder.</a:t>
            </a:r>
          </a:p>
        </p:txBody>
      </p:sp>
      <p:sp>
        <p:nvSpPr>
          <p:cNvPr id="10" name="text-21">
            <a:extLst xmlns:a="http://schemas.openxmlformats.org/drawingml/2006/main">
              <a:ext uri="{FF2B5EF4-FFF2-40B4-BE49-F238E27FC236}">
                <a16:creationId xmlns:a16="http://schemas.microsoft.com/office/drawing/2014/main" id="{B7652D7A-A6A7-46CC-952E-0892F2E5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The language choice persists instantly, and core learning stays available offline.</a:t>
            </a:r>
          </a:p>
        </p:txBody>
      </p:sp>
      <p:sp>
        <p:nvSpPr>
          <p:cNvPr id="11" name="box-22">
            <a:extLst xmlns:a="http://schemas.openxmlformats.org/drawingml/2006/main">
              <a:ext uri="{FF2B5EF4-FFF2-40B4-BE49-F238E27FC236}">
                <a16:creationId xmlns:a16="http://schemas.microsoft.com/office/drawing/2014/main" id="{E6292307-0832-4887-BFFB-26867ED3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876300"/>
            <a:ext cx="72771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f9d0006ab94b0c"/>
          <a:stretch xmlns:a="http://schemas.openxmlformats.org/drawingml/2006/main"/>
        </p:blipFill>
        <p:spPr>
          <a:xfrm xmlns:a="http://schemas.openxmlformats.org/drawingml/2006/main">
            <a:off x="4692997" y="1047750"/>
            <a:ext cx="6920805" cy="4533900"/>
          </a:xfrm>
          <a:prstGeom xmlns:a="http://schemas.openxmlformats.org/drawingml/2006/main" prst="rect">
            <a:avLst/>
          </a:prstGeom>
        </p:spPr>
      </p:pic>
      <p:sp>
        <p:nvSpPr>
          <p:cNvPr id="13" name="text-23">
            <a:extLst xmlns:a="http://schemas.openxmlformats.org/drawingml/2006/main">
              <a:ext uri="{FF2B5EF4-FFF2-40B4-BE49-F238E27FC236}">
                <a16:creationId xmlns:a16="http://schemas.microsoft.com/office/drawing/2014/main" id="{E9B2F5C0-EA61-45F3-BB75-7CA6DFD45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924550"/>
            <a:ext cx="693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Gerçek EXE ekranı · Real executable · Echte Anwendung</a:t>
            </a:r>
          </a:p>
        </p:txBody>
      </p:sp>
    </p:spTree>
    <p:extLst>
      <p:ext uri="{BB962C8B-B14F-4D97-AF65-F5344CB8AC3E}">
        <p14:creationId xmlns:p14="http://schemas.microsoft.com/office/powerpoint/2010/main" val="13774052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box-24">
            <a:extLst xmlns:a="http://schemas.openxmlformats.org/drawingml/2006/main">
              <a:ext uri="{FF2B5EF4-FFF2-40B4-BE49-F238E27FC236}">
                <a16:creationId xmlns:a16="http://schemas.microsoft.com/office/drawing/2014/main" id="{148282E3-FE6A-4B65-8C8B-08BF8CB4D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25">
            <a:extLst xmlns:a="http://schemas.openxmlformats.org/drawingml/2006/main">
              <a:ext uri="{FF2B5EF4-FFF2-40B4-BE49-F238E27FC236}">
                <a16:creationId xmlns:a16="http://schemas.microsoft.com/office/drawing/2014/main" id="{988458DD-0EF9-4D6D-BAF7-F3921391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26">
            <a:extLst xmlns:a="http://schemas.openxmlformats.org/drawingml/2006/main">
              <a:ext uri="{FF2B5EF4-FFF2-40B4-BE49-F238E27FC236}">
                <a16:creationId xmlns:a16="http://schemas.microsoft.com/office/drawing/2014/main" id="{44C0A7F7-8D82-49F7-B5F8-F4455CDA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03 / 06</a:t>
            </a:r>
          </a:p>
        </p:txBody>
      </p:sp>
      <p:sp>
        <p:nvSpPr>
          <p:cNvPr id="4" name="text-27">
            <a:extLst xmlns:a="http://schemas.openxmlformats.org/drawingml/2006/main">
              <a:ext uri="{FF2B5EF4-FFF2-40B4-BE49-F238E27FC236}">
                <a16:creationId xmlns:a16="http://schemas.microsoft.com/office/drawing/2014/main" id="{76267574-6310-4C32-8109-72D7D8A8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learning engine that remembers</a:t>
            </a:r>
          </a:p>
        </p:txBody>
      </p:sp>
      <p:sp>
        <p:nvSpPr>
          <p:cNvPr id="5" name="text-28">
            <a:extLst xmlns:a="http://schemas.openxmlformats.org/drawingml/2006/main">
              <a:ext uri="{FF2B5EF4-FFF2-40B4-BE49-F238E27FC236}">
                <a16:creationId xmlns:a16="http://schemas.microsoft.com/office/drawing/2014/main" id="{58A3FDFB-360E-4270-8123-2B4CC891A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motoru hatırlar · Die Lernmaschine merkt sich den Fortschritt</a:t>
            </a:r>
          </a:p>
        </p:txBody>
      </p:sp>
      <p:sp>
        <p:nvSpPr>
          <p:cNvPr id="6" name="text-29">
            <a:extLst xmlns:a="http://schemas.openxmlformats.org/drawingml/2006/main">
              <a:ext uri="{FF2B5EF4-FFF2-40B4-BE49-F238E27FC236}">
                <a16:creationId xmlns:a16="http://schemas.microsoft.com/office/drawing/2014/main" id="{D0DA7B17-63A0-47DF-931D-84E24292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7" name="box-30">
            <a:extLst xmlns:a="http://schemas.openxmlformats.org/drawingml/2006/main">
              <a:ext uri="{FF2B5EF4-FFF2-40B4-BE49-F238E27FC236}">
                <a16:creationId xmlns:a16="http://schemas.microsoft.com/office/drawing/2014/main" id="{8A16FB5D-CD82-4FBB-B5ED-91B056B7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8" name="text-31">
            <a:extLst xmlns:a="http://schemas.openxmlformats.org/drawingml/2006/main">
              <a:ext uri="{FF2B5EF4-FFF2-40B4-BE49-F238E27FC236}">
                <a16:creationId xmlns:a16="http://schemas.microsoft.com/office/drawing/2014/main" id="{6C3042D8-6B96-47AD-81B6-9D1A0016C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Her gün doğru sıra</a:t>
            </a:r>
          </a:p>
        </p:txBody>
      </p:sp>
      <p:sp>
        <p:nvSpPr>
          <p:cNvPr id="9" name="text-32">
            <a:extLst xmlns:a="http://schemas.openxmlformats.org/drawingml/2006/main">
              <a:ext uri="{FF2B5EF4-FFF2-40B4-BE49-F238E27FC236}">
                <a16:creationId xmlns:a16="http://schemas.microsoft.com/office/drawing/2014/main" id="{EF4B57A6-A186-4493-85D4-F98778E6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SM-2 ve Leitner, yeni ve gecikmiş kartları günlük bir sıraya dönüştürür.</a:t>
            </a:r>
          </a:p>
        </p:txBody>
      </p:sp>
      <p:sp>
        <p:nvSpPr>
          <p:cNvPr id="10" name="text-33">
            <a:extLst xmlns:a="http://schemas.openxmlformats.org/drawingml/2006/main">
              <a:ext uri="{FF2B5EF4-FFF2-40B4-BE49-F238E27FC236}">
                <a16:creationId xmlns:a16="http://schemas.microsoft.com/office/drawing/2014/main" id="{67F7879D-EED0-47E1-8129-3FEE2BFCF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11" name="box-34">
            <a:extLst xmlns:a="http://schemas.openxmlformats.org/drawingml/2006/main">
              <a:ext uri="{FF2B5EF4-FFF2-40B4-BE49-F238E27FC236}">
                <a16:creationId xmlns:a16="http://schemas.microsoft.com/office/drawing/2014/main" id="{A24CC4F6-4361-4ADC-A305-895BB22F2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12" name="text-35">
            <a:extLst xmlns:a="http://schemas.openxmlformats.org/drawingml/2006/main">
              <a:ext uri="{FF2B5EF4-FFF2-40B4-BE49-F238E27FC236}">
                <a16:creationId xmlns:a16="http://schemas.microsoft.com/office/drawing/2014/main" id="{463253A9-B555-4A01-9D62-E94E72FA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Practice with evidence</a:t>
            </a:r>
          </a:p>
        </p:txBody>
      </p:sp>
      <p:sp>
        <p:nvSpPr>
          <p:cNvPr id="13" name="text-36">
            <a:extLst xmlns:a="http://schemas.openxmlformats.org/drawingml/2006/main">
              <a:ext uri="{FF2B5EF4-FFF2-40B4-BE49-F238E27FC236}">
                <a16:creationId xmlns:a16="http://schemas.microsoft.com/office/drawing/2014/main" id="{71C9124C-54D3-44C8-81F4-09CD371A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160 A1 entries, a 1,260-entry DE-EN-TR dictionary with selectable direction, strict spelling, exams, favorites and mistakes share one SQLite record.</a:t>
            </a:r>
          </a:p>
        </p:txBody>
      </p:sp>
      <p:sp>
        <p:nvSpPr>
          <p:cNvPr id="14" name="text-37">
            <a:extLst xmlns:a="http://schemas.openxmlformats.org/drawingml/2006/main">
              <a:ext uri="{FF2B5EF4-FFF2-40B4-BE49-F238E27FC236}">
                <a16:creationId xmlns:a16="http://schemas.microsoft.com/office/drawing/2014/main" id="{CB6997E2-AFC6-470A-8D60-85C630BE7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DEUTSCH</a:t>
            </a:r>
          </a:p>
        </p:txBody>
      </p:sp>
      <p:sp>
        <p:nvSpPr>
          <p:cNvPr id="15" name="box-38">
            <a:extLst xmlns:a="http://schemas.openxmlformats.org/drawingml/2006/main">
              <a:ext uri="{FF2B5EF4-FFF2-40B4-BE49-F238E27FC236}">
                <a16:creationId xmlns:a16="http://schemas.microsoft.com/office/drawing/2014/main" id="{4004C836-4D2D-43C6-BC4D-55AD14812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6" name="text-39">
            <a:extLst xmlns:a="http://schemas.openxmlformats.org/drawingml/2006/main">
              <a:ext uri="{FF2B5EF4-FFF2-40B4-BE49-F238E27FC236}">
                <a16:creationId xmlns:a16="http://schemas.microsoft.com/office/drawing/2014/main" id="{CAD9820A-EEE5-481E-A778-BDF99A493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Fortschritt bleibt lokal</a:t>
            </a:r>
          </a:p>
        </p:txBody>
      </p:sp>
      <p:sp>
        <p:nvSpPr>
          <p:cNvPr id="17" name="text-40">
            <a:extLst xmlns:a="http://schemas.openxmlformats.org/drawingml/2006/main">
              <a:ext uri="{FF2B5EF4-FFF2-40B4-BE49-F238E27FC236}">
                <a16:creationId xmlns:a16="http://schemas.microsoft.com/office/drawing/2014/main" id="{4FD07DE3-5941-4715-98BB-BE9E18C17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Wiederholung, Fehler, Favoriten und Prüfungen werden lokal und nachvollziehbar gespeichert.</a:t>
            </a:r>
          </a:p>
        </p:txBody>
      </p:sp>
      <p:sp>
        <p:nvSpPr>
          <p:cNvPr id="18" name="text-41">
            <a:extLst xmlns:a="http://schemas.openxmlformats.org/drawingml/2006/main">
              <a:ext uri="{FF2B5EF4-FFF2-40B4-BE49-F238E27FC236}">
                <a16:creationId xmlns:a16="http://schemas.microsoft.com/office/drawing/2014/main" id="{E7E0165F-7B4A-4748-AC8F-3C90E3EF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Kaynak kataloğu / resource catalog / Quellenkatalog: Wikibooks · Tatoeba · LibriVox · Project Gutenberg</a:t>
            </a:r>
          </a:p>
        </p:txBody>
      </p:sp>
    </p:spTree>
    <p:extLst>
      <p:ext uri="{BB962C8B-B14F-4D97-AF65-F5344CB8AC3E}">
        <p14:creationId xmlns:p14="http://schemas.microsoft.com/office/powerpoint/2010/main" val="15876119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42">
            <a:extLst xmlns:a="http://schemas.openxmlformats.org/drawingml/2006/main">
              <a:ext uri="{FF2B5EF4-FFF2-40B4-BE49-F238E27FC236}">
                <a16:creationId xmlns:a16="http://schemas.microsoft.com/office/drawing/2014/main" id="{ADDCDB2E-812A-45B1-A457-42DA256D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43">
            <a:extLst xmlns:a="http://schemas.openxmlformats.org/drawingml/2006/main">
              <a:ext uri="{FF2B5EF4-FFF2-40B4-BE49-F238E27FC236}">
                <a16:creationId xmlns:a16="http://schemas.microsoft.com/office/drawing/2014/main" id="{1A904967-3E1A-4371-BA2B-612845D08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44">
            <a:extLst xmlns:a="http://schemas.openxmlformats.org/drawingml/2006/main">
              <a:ext uri="{FF2B5EF4-FFF2-40B4-BE49-F238E27FC236}">
                <a16:creationId xmlns:a16="http://schemas.microsoft.com/office/drawing/2014/main" id="{565FAEF2-DAE6-475C-868C-447E265E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04 / 06</a:t>
            </a:r>
          </a:p>
        </p:txBody>
      </p:sp>
      <p:sp>
        <p:nvSpPr>
          <p:cNvPr id="4" name="text-45">
            <a:extLst xmlns:a="http://schemas.openxmlformats.org/drawingml/2006/main">
              <a:ext uri="{FF2B5EF4-FFF2-40B4-BE49-F238E27FC236}">
                <a16:creationId xmlns:a16="http://schemas.microsoft.com/office/drawing/2014/main" id="{CD360BCB-5164-44A4-A4BD-A959E849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Deutsch verdient präzise Werkzeuge</a:t>
            </a:r>
          </a:p>
        </p:txBody>
      </p:sp>
      <p:sp>
        <p:nvSpPr>
          <p:cNvPr id="5" name="text-46">
            <a:extLst xmlns:a="http://schemas.openxmlformats.org/drawingml/2006/main">
              <a:ext uri="{FF2B5EF4-FFF2-40B4-BE49-F238E27FC236}">
                <a16:creationId xmlns:a16="http://schemas.microsoft.com/office/drawing/2014/main" id="{2FC0B685-A5E8-46AC-B62F-0C645170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Almancaya özgü laboratuvar  ·  A German-specific language lab</a:t>
            </a:r>
          </a:p>
        </p:txBody>
      </p:sp>
      <p:sp>
        <p:nvSpPr>
          <p:cNvPr id="6" name="box-47">
            <a:extLst xmlns:a="http://schemas.openxmlformats.org/drawingml/2006/main">
              <a:ext uri="{FF2B5EF4-FFF2-40B4-BE49-F238E27FC236}">
                <a16:creationId xmlns:a16="http://schemas.microsoft.com/office/drawing/2014/main" id="{EBE1CBBF-08B6-4AAA-91A7-75CF5372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text-48">
            <a:extLst xmlns:a="http://schemas.openxmlformats.org/drawingml/2006/main">
              <a:ext uri="{FF2B5EF4-FFF2-40B4-BE49-F238E27FC236}">
                <a16:creationId xmlns:a16="http://schemas.microsoft.com/office/drawing/2014/main" id="{8EA80A6D-5DEE-4D53-AB21-18731CA6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der Tisch · die Tische</a:t>
            </a:r>
          </a:p>
        </p:txBody>
      </p:sp>
      <p:sp>
        <p:nvSpPr>
          <p:cNvPr id="8" name="text-49">
            <a:extLst xmlns:a="http://schemas.openxmlformats.org/drawingml/2006/main">
              <a:ext uri="{FF2B5EF4-FFF2-40B4-BE49-F238E27FC236}">
                <a16:creationId xmlns:a16="http://schemas.microsoft.com/office/drawing/2014/main" id="{82F204C9-E6B3-4892-93A6-EA7C98AA7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Artikel + çoğul birlikte · article and plural together · Artikel und Plural zusammen</a:t>
            </a:r>
          </a:p>
        </p:txBody>
      </p:sp>
      <p:sp>
        <p:nvSpPr>
          <p:cNvPr id="9" name="box-50">
            <a:extLst xmlns:a="http://schemas.openxmlformats.org/drawingml/2006/main">
              <a:ext uri="{FF2B5EF4-FFF2-40B4-BE49-F238E27FC236}">
                <a16:creationId xmlns:a16="http://schemas.microsoft.com/office/drawing/2014/main" id="{D793E842-CE00-49E4-B12B-1A2E9205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text-51">
            <a:extLst xmlns:a="http://schemas.openxmlformats.org/drawingml/2006/main">
              <a:ext uri="{FF2B5EF4-FFF2-40B4-BE49-F238E27FC236}">
                <a16:creationId xmlns:a16="http://schemas.microsoft.com/office/drawing/2014/main" id="{E675869F-54DF-4C4C-B41A-1B9B6F2C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ä · ö · ü</a:t>
            </a:r>
          </a:p>
        </p:txBody>
      </p:sp>
      <p:sp>
        <p:nvSpPr>
          <p:cNvPr id="11" name="text-52">
            <a:extLst xmlns:a="http://schemas.openxmlformats.org/drawingml/2006/main">
              <a:ext uri="{FF2B5EF4-FFF2-40B4-BE49-F238E27FC236}">
                <a16:creationId xmlns:a16="http://schemas.microsoft.com/office/drawing/2014/main" id="{9032FF64-F3F9-403C-8770-E89B4FC7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Umlaut araması kontrollü · controlled umlaut search · kontrollierte Umlautsuche</a:t>
            </a:r>
          </a:p>
        </p:txBody>
      </p:sp>
      <p:sp>
        <p:nvSpPr>
          <p:cNvPr id="12" name="box-53">
            <a:extLst xmlns:a="http://schemas.openxmlformats.org/drawingml/2006/main">
              <a:ext uri="{FF2B5EF4-FFF2-40B4-BE49-F238E27FC236}">
                <a16:creationId xmlns:a16="http://schemas.microsoft.com/office/drawing/2014/main" id="{255C5798-8AF9-471E-9F0C-F439F602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3" name="text-54">
            <a:extLst xmlns:a="http://schemas.openxmlformats.org/drawingml/2006/main">
              <a:ext uri="{FF2B5EF4-FFF2-40B4-BE49-F238E27FC236}">
                <a16:creationId xmlns:a16="http://schemas.microsoft.com/office/drawing/2014/main" id="{69A46D39-179F-48AD-B12A-0621EFAF2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Straße · Grüße</a:t>
            </a:r>
          </a:p>
        </p:txBody>
      </p:sp>
      <p:sp>
        <p:nvSpPr>
          <p:cNvPr id="14" name="text-55">
            <a:extLst xmlns:a="http://schemas.openxmlformats.org/drawingml/2006/main">
              <a:ext uri="{FF2B5EF4-FFF2-40B4-BE49-F238E27FC236}">
                <a16:creationId xmlns:a16="http://schemas.microsoft.com/office/drawing/2014/main" id="{F4899B01-B5C9-4D43-A270-042C8A7E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ß aramada esnek, yanıtta kesin · flexible search, strict answer · flexible Suche, genaue Antwort</a:t>
            </a:r>
          </a:p>
        </p:txBody>
      </p:sp>
      <p:sp>
        <p:nvSpPr>
          <p:cNvPr id="15" name="box-56">
            <a:extLst xmlns:a="http://schemas.openxmlformats.org/drawingml/2006/main">
              <a:ext uri="{FF2B5EF4-FFF2-40B4-BE49-F238E27FC236}">
                <a16:creationId xmlns:a16="http://schemas.microsoft.com/office/drawing/2014/main" id="{294272C2-3142-4EDD-A728-0C5570DC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text-57">
            <a:extLst xmlns:a="http://schemas.openxmlformats.org/drawingml/2006/main">
              <a:ext uri="{FF2B5EF4-FFF2-40B4-BE49-F238E27FC236}">
                <a16:creationId xmlns:a16="http://schemas.microsoft.com/office/drawing/2014/main" id="{81A2F3AB-2D51-41AE-91E7-8D67FE8E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Häuser → das Haus</a:t>
            </a:r>
          </a:p>
        </p:txBody>
      </p:sp>
      <p:sp>
        <p:nvSpPr>
          <p:cNvPr id="17" name="text-58">
            <a:extLst xmlns:a="http://schemas.openxmlformats.org/drawingml/2006/main">
              <a:ext uri="{FF2B5EF4-FFF2-40B4-BE49-F238E27FC236}">
                <a16:creationId xmlns:a16="http://schemas.microsoft.com/office/drawing/2014/main" id="{6B57BFB9-FE77-421F-A6BF-995446304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Sözlük DE↔EN↔TR yön seçimli · dictionary DE/EN/TR with direction switch · Wörterbuch DE/EN/TR mit Richtungswahl</a:t>
            </a:r>
          </a:p>
        </p:txBody>
      </p:sp>
    </p:spTree>
    <p:extLst>
      <p:ext uri="{BB962C8B-B14F-4D97-AF65-F5344CB8AC3E}">
        <p14:creationId xmlns:p14="http://schemas.microsoft.com/office/powerpoint/2010/main" val="16016203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ox-59">
            <a:extLst xmlns:a="http://schemas.openxmlformats.org/drawingml/2006/main">
              <a:ext uri="{FF2B5EF4-FFF2-40B4-BE49-F238E27FC236}">
                <a16:creationId xmlns:a16="http://schemas.microsoft.com/office/drawing/2014/main" id="{5519298A-0DC7-4A45-97D8-88D49983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60">
            <a:extLst xmlns:a="http://schemas.openxmlformats.org/drawingml/2006/main">
              <a:ext uri="{FF2B5EF4-FFF2-40B4-BE49-F238E27FC236}">
                <a16:creationId xmlns:a16="http://schemas.microsoft.com/office/drawing/2014/main" id="{A6B7036D-127F-4A52-8E7C-79187BB02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61">
            <a:extLst xmlns:a="http://schemas.openxmlformats.org/drawingml/2006/main">
              <a:ext uri="{FF2B5EF4-FFF2-40B4-BE49-F238E27FC236}">
                <a16:creationId xmlns:a16="http://schemas.microsoft.com/office/drawing/2014/main" id="{690B924C-A5D4-45C0-A5A3-6FA835B2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05 / 06</a:t>
            </a:r>
          </a:p>
        </p:txBody>
      </p:sp>
      <p:sp>
        <p:nvSpPr>
          <p:cNvPr id="4" name="text-62">
            <a:extLst xmlns:a="http://schemas.openxmlformats.org/drawingml/2006/main">
              <a:ext uri="{FF2B5EF4-FFF2-40B4-BE49-F238E27FC236}">
                <a16:creationId xmlns:a16="http://schemas.microsoft.com/office/drawing/2014/main" id="{055EB272-107F-4B31-937D-3B8082B59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AI isteğe bağlı; mahremiyet varsayılan</a:t>
            </a:r>
          </a:p>
        </p:txBody>
      </p:sp>
      <p:sp>
        <p:nvSpPr>
          <p:cNvPr id="5" name="text-63">
            <a:extLst xmlns:a="http://schemas.openxmlformats.org/drawingml/2006/main">
              <a:ext uri="{FF2B5EF4-FFF2-40B4-BE49-F238E27FC236}">
                <a16:creationId xmlns:a16="http://schemas.microsoft.com/office/drawing/2014/main" id="{999CCA0E-3FA6-42BB-91A7-9D847428C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AI is optional; privacy is the default  ·  KI ist optional; Datenschutz ist Standard</a:t>
            </a:r>
          </a:p>
        </p:txBody>
      </p:sp>
      <p:sp>
        <p:nvSpPr>
          <p:cNvPr id="6" name="box-64">
            <a:extLst xmlns:a="http://schemas.openxmlformats.org/drawingml/2006/main">
              <a:ext uri="{FF2B5EF4-FFF2-40B4-BE49-F238E27FC236}">
                <a16:creationId xmlns:a16="http://schemas.microsoft.com/office/drawing/2014/main" id="{8F72A320-EBC7-4A9E-A492-48A96CFE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dot-65">
            <a:extLst xmlns:a="http://schemas.openxmlformats.org/drawingml/2006/main">
              <a:ext uri="{FF2B5EF4-FFF2-40B4-BE49-F238E27FC236}">
                <a16:creationId xmlns:a16="http://schemas.microsoft.com/office/drawing/2014/main" id="{C52A4A40-A061-4081-BDF5-CB22DCEF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6">
            <a:extLst xmlns:a="http://schemas.openxmlformats.org/drawingml/2006/main">
              <a:ext uri="{FF2B5EF4-FFF2-40B4-BE49-F238E27FC236}">
                <a16:creationId xmlns:a16="http://schemas.microsoft.com/office/drawing/2014/main" id="{513F109B-AADD-4A74-8270-90BC07C5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01 · CONTEXT</a:t>
            </a:r>
          </a:p>
        </p:txBody>
      </p:sp>
      <p:sp>
        <p:nvSpPr>
          <p:cNvPr id="9" name="text-67">
            <a:extLst xmlns:a="http://schemas.openxmlformats.org/drawingml/2006/main">
              <a:ext uri="{FF2B5EF4-FFF2-40B4-BE49-F238E27FC236}">
                <a16:creationId xmlns:a16="http://schemas.microsoft.com/office/drawing/2014/main" id="{C8863DE8-B8FD-4A45-A58F-0011DAE94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Öğrenci bağlamı</a:t>
            </a:r>
          </a:p>
        </p:txBody>
      </p:sp>
      <p:sp>
        <p:nvSpPr>
          <p:cNvPr id="10" name="text-68">
            <a:extLst xmlns:a="http://schemas.openxmlformats.org/drawingml/2006/main">
              <a:ext uri="{FF2B5EF4-FFF2-40B4-BE49-F238E27FC236}">
                <a16:creationId xmlns:a16="http://schemas.microsoft.com/office/drawing/2014/main" id="{59A6B182-849D-45DC-BA72-B024EC00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Seviye, hedef ve etkin çalışma uygulama içinde derlenir.</a:t>
            </a:r>
          </a:p>
        </p:txBody>
      </p:sp>
      <p:sp>
        <p:nvSpPr>
          <p:cNvPr id="11" name="dot-69">
            <a:extLst xmlns:a="http://schemas.openxmlformats.org/drawingml/2006/main">
              <a:ext uri="{FF2B5EF4-FFF2-40B4-BE49-F238E27FC236}">
                <a16:creationId xmlns:a16="http://schemas.microsoft.com/office/drawing/2014/main" id="{57F14011-C9F4-4F62-AC87-4798E4AB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70">
            <a:extLst xmlns:a="http://schemas.openxmlformats.org/drawingml/2006/main">
              <a:ext uri="{FF2B5EF4-FFF2-40B4-BE49-F238E27FC236}">
                <a16:creationId xmlns:a16="http://schemas.microsoft.com/office/drawing/2014/main" id="{25EB872C-DDFD-40DC-AC03-FAE5C4EA0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02 · LOCAL MODEL</a:t>
            </a:r>
          </a:p>
        </p:txBody>
      </p:sp>
      <p:sp>
        <p:nvSpPr>
          <p:cNvPr id="13" name="text-71">
            <a:extLst xmlns:a="http://schemas.openxmlformats.org/drawingml/2006/main">
              <a:ext uri="{FF2B5EF4-FFF2-40B4-BE49-F238E27FC236}">
                <a16:creationId xmlns:a16="http://schemas.microsoft.com/office/drawing/2014/main" id="{592078A7-3B54-41DB-B103-AE887FE2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LM Studio / alt. uç</a:t>
            </a:r>
          </a:p>
        </p:txBody>
      </p:sp>
      <p:sp>
        <p:nvSpPr>
          <p:cNvPr id="14" name="text-72">
            <a:extLst xmlns:a="http://schemas.openxmlformats.org/drawingml/2006/main">
              <a:ext uri="{FF2B5EF4-FFF2-40B4-BE49-F238E27FC236}">
                <a16:creationId xmlns:a16="http://schemas.microsoft.com/office/drawing/2014/main" id="{9FF08B2D-5546-4738-96FB-DD0E73628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Önce yerel LM Studio; isteğe bağlı NVIDIA NIM veya özel OpenAI uyumlu uç. API anahtarı diske yazılmaz.</a:t>
            </a:r>
          </a:p>
        </p:txBody>
      </p:sp>
      <p:sp>
        <p:nvSpPr>
          <p:cNvPr id="15" name="dot-73">
            <a:extLst xmlns:a="http://schemas.openxmlformats.org/drawingml/2006/main">
              <a:ext uri="{FF2B5EF4-FFF2-40B4-BE49-F238E27FC236}">
                <a16:creationId xmlns:a16="http://schemas.microsoft.com/office/drawing/2014/main" id="{50F73B97-A4F0-4EA3-AE67-CAA7B10A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74">
            <a:extLst xmlns:a="http://schemas.openxmlformats.org/drawingml/2006/main">
              <a:ext uri="{FF2B5EF4-FFF2-40B4-BE49-F238E27FC236}">
                <a16:creationId xmlns:a16="http://schemas.microsoft.com/office/drawing/2014/main" id="{A2A433DC-FA36-4C15-83DA-FB77E1D9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03 · RECORD</a:t>
            </a:r>
          </a:p>
        </p:txBody>
      </p:sp>
      <p:sp>
        <p:nvSpPr>
          <p:cNvPr id="17" name="text-75">
            <a:extLst xmlns:a="http://schemas.openxmlformats.org/drawingml/2006/main">
              <a:ext uri="{FF2B5EF4-FFF2-40B4-BE49-F238E27FC236}">
                <a16:creationId xmlns:a16="http://schemas.microsoft.com/office/drawing/2014/main" id="{563217A6-C4A7-4ED9-9D66-8C6C3AEF8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Güvenli kayıt</a:t>
            </a:r>
          </a:p>
        </p:txBody>
      </p:sp>
      <p:sp>
        <p:nvSpPr>
          <p:cNvPr id="18" name="text-76">
            <a:extLst xmlns:a="http://schemas.openxmlformats.org/drawingml/2006/main">
              <a:ext uri="{FF2B5EF4-FFF2-40B4-BE49-F238E27FC236}">
                <a16:creationId xmlns:a16="http://schemas.microsoft.com/office/drawing/2014/main" id="{D8B686BE-8ABE-4E5F-8E8C-18DCB63E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Yalnızca süre, token sayısı ve durum tutulur; konuşma metni tutulmaz.</a:t>
            </a:r>
          </a:p>
        </p:txBody>
      </p:sp>
      <p:sp>
        <p:nvSpPr>
          <p:cNvPr id="19" name="box-77">
            <a:extLst xmlns:a="http://schemas.openxmlformats.org/drawingml/2006/main">
              <a:ext uri="{FF2B5EF4-FFF2-40B4-BE49-F238E27FC236}">
                <a16:creationId xmlns:a16="http://schemas.microsoft.com/office/drawing/2014/main" id="{51A37D2C-2F6E-41B8-9B74-7D3C7ADF8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1066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0">
            <a:solidFill>
              <a:srgbClr val="FFF3CF"/>
            </a:solidFill>
            <a:prstDash val="solid"/>
          </a:ln>
        </p:spPr>
      </p:sp>
      <p:sp>
        <p:nvSpPr>
          <p:cNvPr id="20" name="text-78">
            <a:extLst xmlns:a="http://schemas.openxmlformats.org/drawingml/2006/main">
              <a:ext uri="{FF2B5EF4-FFF2-40B4-BE49-F238E27FC236}">
                <a16:creationId xmlns:a16="http://schemas.microsoft.com/office/drawing/2014/main" id="{0C9BA9C1-ABE7-484B-9B5A-CB42A16F6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769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Çevrimdışı çekirdek / Offline core / Offline-Kern — AI kapalıyken de tüm temel çalışma akışları kullanılabilir.</a:t>
            </a:r>
          </a:p>
        </p:txBody>
      </p:sp>
    </p:spTree>
    <p:extLst>
      <p:ext uri="{BB962C8B-B14F-4D97-AF65-F5344CB8AC3E}">
        <p14:creationId xmlns:p14="http://schemas.microsoft.com/office/powerpoint/2010/main" val="11575220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79">
            <a:extLst xmlns:a="http://schemas.openxmlformats.org/drawingml/2006/main">
              <a:ext uri="{FF2B5EF4-FFF2-40B4-BE49-F238E27FC236}">
                <a16:creationId xmlns:a16="http://schemas.microsoft.com/office/drawing/2014/main" id="{99ACF86A-CB78-4B05-A8A6-C713618A1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80">
            <a:extLst xmlns:a="http://schemas.openxmlformats.org/drawingml/2006/main">
              <a:ext uri="{FF2B5EF4-FFF2-40B4-BE49-F238E27FC236}">
                <a16:creationId xmlns:a16="http://schemas.microsoft.com/office/drawing/2014/main" id="{613F8D87-66CF-446C-BEFA-CCBC8E50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TESLİME HAZIR · READY TO DELIVER · BEREIT ZUR AUSLIEFERUNG</a:t>
            </a:r>
          </a:p>
        </p:txBody>
      </p:sp>
      <p:sp>
        <p:nvSpPr>
          <p:cNvPr id="3" name="text-81">
            <a:extLst xmlns:a="http://schemas.openxmlformats.org/drawingml/2006/main">
              <a:ext uri="{FF2B5EF4-FFF2-40B4-BE49-F238E27FC236}">
                <a16:creationId xmlns:a16="http://schemas.microsoft.com/office/drawing/2014/main" id="{984C7774-A46B-4462-8122-82D8FD8D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Hazır.</a:t>
            </a:r>
          </a:p>
        </p:txBody>
      </p:sp>
      <p:sp>
        <p:nvSpPr>
          <p:cNvPr id="4" name="text-82">
            <a:extLst xmlns:a="http://schemas.openxmlformats.org/drawingml/2006/main">
              <a:ext uri="{FF2B5EF4-FFF2-40B4-BE49-F238E27FC236}">
                <a16:creationId xmlns:a16="http://schemas.microsoft.com/office/drawing/2014/main" id="{E225FBB2-5849-4D9F-8DF8-2240C527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Ready.</a:t>
            </a:r>
          </a:p>
        </p:txBody>
      </p:sp>
      <p:sp>
        <p:nvSpPr>
          <p:cNvPr id="5" name="text-83">
            <a:extLst xmlns:a="http://schemas.openxmlformats.org/drawingml/2006/main">
              <a:ext uri="{FF2B5EF4-FFF2-40B4-BE49-F238E27FC236}">
                <a16:creationId xmlns:a16="http://schemas.microsoft.com/office/drawing/2014/main" id="{E25A373F-7296-47D7-896F-2847D3B7B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76400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Bereit.</a:t>
            </a:r>
          </a:p>
        </p:txBody>
      </p:sp>
      <p:sp>
        <p:nvSpPr>
          <p:cNvPr id="6" name="text-84">
            <a:extLst xmlns:a="http://schemas.openxmlformats.org/drawingml/2006/main">
              <a:ext uri="{FF2B5EF4-FFF2-40B4-BE49-F238E27FC236}">
                <a16:creationId xmlns:a16="http://schemas.microsoft.com/office/drawing/2014/main" id="{8A6C5795-9070-48FE-B0BC-B9D14313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Bağımsız Windows uygulaması, belgeler, testler ve sunum tek pakette.</a:t>
            </a:r>
          </a:p>
        </p:txBody>
      </p:sp>
      <p:sp>
        <p:nvSpPr>
          <p:cNvPr id="7" name="text-85">
            <a:extLst xmlns:a="http://schemas.openxmlformats.org/drawingml/2006/main">
              <a:ext uri="{FF2B5EF4-FFF2-40B4-BE49-F238E27FC236}">
                <a16:creationId xmlns:a16="http://schemas.microsoft.com/office/drawing/2014/main" id="{A546D8D0-465A-40C6-A63F-529FB1DDA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160</a:t>
            </a:r>
          </a:p>
        </p:txBody>
      </p:sp>
      <p:sp>
        <p:nvSpPr>
          <p:cNvPr id="8" name="text-86">
            <a:extLst xmlns:a="http://schemas.openxmlformats.org/drawingml/2006/main">
              <a:ext uri="{FF2B5EF4-FFF2-40B4-BE49-F238E27FC236}">
                <a16:creationId xmlns:a16="http://schemas.microsoft.com/office/drawing/2014/main" id="{CADEA91F-6239-4313-8D64-36B98B599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88 / 88</a:t>
            </a:r>
          </a:p>
        </p:txBody>
      </p:sp>
      <p:sp>
        <p:nvSpPr>
          <p:cNvPr id="9" name="text-87">
            <a:extLst xmlns:a="http://schemas.openxmlformats.org/drawingml/2006/main">
              <a:ext uri="{FF2B5EF4-FFF2-40B4-BE49-F238E27FC236}">
                <a16:creationId xmlns:a16="http://schemas.microsoft.com/office/drawing/2014/main" id="{5D9897D5-98E5-40B4-8B60-0B05AE302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81450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0" name="text-88">
            <a:extLst xmlns:a="http://schemas.openxmlformats.org/drawingml/2006/main">
              <a:ext uri="{FF2B5EF4-FFF2-40B4-BE49-F238E27FC236}">
                <a16:creationId xmlns:a16="http://schemas.microsoft.com/office/drawing/2014/main" id="{5A27F241-021F-4D38-9821-F6F18BA47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benzersiz A1 kelime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unique A1 words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eindeutige A1-Wörter</a:t>
            </a:r>
          </a:p>
        </p:txBody>
      </p:sp>
      <p:sp>
        <p:nvSpPr>
          <p:cNvPr id="11" name="text-89">
            <a:extLst xmlns:a="http://schemas.openxmlformats.org/drawingml/2006/main">
              <a:ext uri="{FF2B5EF4-FFF2-40B4-BE49-F238E27FC236}">
                <a16:creationId xmlns:a16="http://schemas.microsoft.com/office/drawing/2014/main" id="{4A6E79E0-9C08-4032-B68B-9FFD73EA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otomatik test geçti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automated tests passed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automatische Tests bestanden</a:t>
            </a:r>
          </a:p>
        </p:txBody>
      </p:sp>
      <p:sp>
        <p:nvSpPr>
          <p:cNvPr id="12" name="text-90">
            <a:extLst xmlns:a="http://schemas.openxmlformats.org/drawingml/2006/main">
              <a:ext uri="{FF2B5EF4-FFF2-40B4-BE49-F238E27FC236}">
                <a16:creationId xmlns:a16="http://schemas.microsoft.com/office/drawing/2014/main" id="{E423EBF3-CE9A-43DA-80F1-BC4A62B4F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67250"/>
            <a:ext cx="209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alanı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learning areas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Lernbereiche</a:t>
            </a:r>
          </a:p>
        </p:txBody>
      </p:sp>
      <p:sp>
        <p:nvSpPr>
          <p:cNvPr id="13" name="box-91">
            <a:extLst xmlns:a="http://schemas.openxmlformats.org/drawingml/2006/main">
              <a:ext uri="{FF2B5EF4-FFF2-40B4-BE49-F238E27FC236}">
                <a16:creationId xmlns:a16="http://schemas.microsoft.com/office/drawing/2014/main" id="{B1E859C8-9D03-4D27-94C9-3A1BD12D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14" name="text-92">
            <a:extLst xmlns:a="http://schemas.openxmlformats.org/drawingml/2006/main">
              <a:ext uri="{FF2B5EF4-FFF2-40B4-BE49-F238E27FC236}">
                <a16:creationId xmlns:a16="http://schemas.microsoft.com/office/drawing/2014/main" id="{AEF57CE6-208D-4B77-AF09-430114189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 + source + docs + private GitHub + trilingual deck · EXE + kaynak + belgeler + özel GitHub + üç dilli sunum</a:t>
            </a:r>
          </a:p>
        </p:txBody>
      </p:sp>
      <p:sp>
        <p:nvSpPr>
          <p:cNvPr id="15" name="text-93">
            <a:extLst xmlns:a="http://schemas.openxmlformats.org/drawingml/2006/main">
              <a:ext uri="{FF2B5EF4-FFF2-40B4-BE49-F238E27FC236}">
                <a16:creationId xmlns:a16="http://schemas.microsoft.com/office/drawing/2014/main" id="{4DB9C382-E3BE-4188-83E8-33993902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github.com/Azizsekerdil/GermanCourseAI/releases (v1.2.1) · (özel repo)</a:t>
            </a:r>
          </a:p>
        </p:txBody>
      </p:sp>
      <p:sp>
        <p:nvSpPr>
          <p:cNvPr id="16" name="text-94">
            <a:extLst xmlns:a="http://schemas.openxmlformats.org/drawingml/2006/main">
              <a:ext uri="{FF2B5EF4-FFF2-40B4-BE49-F238E27FC236}">
                <a16:creationId xmlns:a16="http://schemas.microsoft.com/office/drawing/2014/main" id="{AA557BB1-C1A2-4C50-8F02-B6013274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(v1.2.1)</a:t>
            </a:r>
          </a:p>
        </p:txBody>
      </p:sp>
      <p:sp>
        <p:nvSpPr>
          <p:cNvPr id="17" name="text-95">
            <a:extLst xmlns:a="http://schemas.openxmlformats.org/drawingml/2006/main">
              <a:ext uri="{FF2B5EF4-FFF2-40B4-BE49-F238E27FC236}">
                <a16:creationId xmlns:a16="http://schemas.microsoft.com/office/drawing/2014/main" id="{E98D75A7-FFE4-4843-B93C-5662E5FED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macOS paketi Apple Silicon (arm64) içindir ve notarize edilmemiştir; ilk açılışta sağ tık → Aç. / Not notarized; first launch: right-click → Open.</a:t>
            </a:r>
          </a:p>
        </p:txBody>
      </p:sp>
    </p:spTree>
    <p:extLst>
      <p:ext uri="{BB962C8B-B14F-4D97-AF65-F5344CB8AC3E}">
        <p14:creationId xmlns:p14="http://schemas.microsoft.com/office/powerpoint/2010/main" val="14744354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2026-09-07T05:07:24.1770000Z</dcterms:created>
  <dcterms:modified xsi:type="dcterms:W3CDTF">2026-09-07T05:07:24.1770000Z</dcterms:modified>
</coreProperties>
</file>