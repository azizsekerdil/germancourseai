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f82ab19a9744843" /><Relationship Type="http://schemas.openxmlformats.org/officeDocument/2006/relationships/extended-properties" Target="/docProps/app.xml" Id="Rce8e618e98d14d5d" /><Relationship Type="http://schemas.openxmlformats.org/officeDocument/2006/relationships/officeDocument" Target="/ppt/presentation.xml" Id="R7ded9987b596478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48600bc01cf4bbc"/>
  </p:sldMasterIdLst>
  <p:notesMasterIdLst>
    <p:notesMasterId xmlns:r="http://schemas.openxmlformats.org/officeDocument/2006/relationships" r:id="Rf16d9462a49748c4"/>
  </p:notesMasterIdLst>
  <p:sldIdLst>
    <p:sldId xmlns:r="http://schemas.openxmlformats.org/officeDocument/2006/relationships" id="256" r:id="R22c3de62b0b34407"/>
    <p:sldId xmlns:r="http://schemas.openxmlformats.org/officeDocument/2006/relationships" id="257" r:id="Rb8089c1bdb9846a8"/>
    <p:sldId xmlns:r="http://schemas.openxmlformats.org/officeDocument/2006/relationships" id="258" r:id="R8e569ab685254e3c"/>
    <p:sldId xmlns:r="http://schemas.openxmlformats.org/officeDocument/2006/relationships" id="259" r:id="R98b2cd1ea51946bd"/>
    <p:sldId xmlns:r="http://schemas.openxmlformats.org/officeDocument/2006/relationships" id="260" r:id="R425b055be4ff453f"/>
    <p:sldId xmlns:r="http://schemas.openxmlformats.org/officeDocument/2006/relationships" id="261" r:id="Rb97bfcfaceab4b0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0f702f771244a0d" /><Relationship Type="http://schemas.openxmlformats.org/officeDocument/2006/relationships/slideMaster" Target="/ppt/slideMasters/slideMaster1.xml" Id="R548600bc01cf4bbc" /><Relationship Type="http://schemas.openxmlformats.org/officeDocument/2006/relationships/notesMaster" Target="/ppt/notesMasters/notesMaster1.xml" Id="Rf16d9462a49748c4" /><Relationship Type="http://schemas.openxmlformats.org/officeDocument/2006/relationships/presProps" Target="/ppt/presProps.xml" Id="R1a6b095af497465f" /><Relationship Type="http://schemas.openxmlformats.org/officeDocument/2006/relationships/tableStyles" Target="/ppt/tableStyles.xml" Id="Re835e2f16dae42b2" /><Relationship Type="http://schemas.openxmlformats.org/officeDocument/2006/relationships/slide" Target="/ppt/slides/slide1.xml" Id="R22c3de62b0b34407" /><Relationship Type="http://schemas.openxmlformats.org/officeDocument/2006/relationships/slide" Target="/ppt/slides/slide2.xml" Id="Rb8089c1bdb9846a8" /><Relationship Type="http://schemas.openxmlformats.org/officeDocument/2006/relationships/slide" Target="/ppt/slides/slide3.xml" Id="R8e569ab685254e3c" /><Relationship Type="http://schemas.openxmlformats.org/officeDocument/2006/relationships/slide" Target="/ppt/slides/slide4.xml" Id="R98b2cd1ea51946bd" /><Relationship Type="http://schemas.openxmlformats.org/officeDocument/2006/relationships/slide" Target="/ppt/slides/slide5.xml" Id="R425b055be4ff453f" /><Relationship Type="http://schemas.openxmlformats.org/officeDocument/2006/relationships/slide" Target="/ppt/slides/slide6.xml" Id="Rb97bfcfaceab4b0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785df1671d04a4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05e30cec4e1498a" /><Relationship Type="http://schemas.openxmlformats.org/officeDocument/2006/relationships/notesMaster" Target="/ppt/notesMasters/notesMaster1.xml" Id="R86820b106bb44da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3d20f5a7aec4e89" /><Relationship Type="http://schemas.openxmlformats.org/officeDocument/2006/relationships/notesMaster" Target="/ppt/notesMasters/notesMaster1.xml" Id="Rcfa8ac40d50b415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4fe50a1c9c24e9e" /><Relationship Type="http://schemas.openxmlformats.org/officeDocument/2006/relationships/notesMaster" Target="/ppt/notesMasters/notesMaster1.xml" Id="R49623b27f6904d2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42ea96b9ce74ac1" /><Relationship Type="http://schemas.openxmlformats.org/officeDocument/2006/relationships/notesMaster" Target="/ppt/notesMasters/notesMaster1.xml" Id="Ra0415e21b50b484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56edf00fd7a44a5" /><Relationship Type="http://schemas.openxmlformats.org/officeDocument/2006/relationships/notesMaster" Target="/ppt/notesMasters/notesMaster1.xml" Id="Rde49405a022d4c4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2d082fd41134236" /><Relationship Type="http://schemas.openxmlformats.org/officeDocument/2006/relationships/notesMaster" Target="/ppt/notesMasters/notesMaster1.xml" Id="R78d4456d1f2e49a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German Course AI overview.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icon generated for this project: D:/GE_FR/GermanCourseAI/assets/app-final.png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a real screenshot captured from the packaged Windows executable.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 screenshot: D:/GE_FR/GermanCourseAI/docs/presentation/assets/german-course-ai-screenshot.jpg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Learning engine and openly licensed resource catalog.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https://en.wikibooks.org/wiki/German</a:t>
            </a:r>
          </a:p>
          <a:p xmlns:a="http://schemas.openxmlformats.org/drawingml/2006/main">
            <a:r>
              <a:t>- https://tatoeba.org/en/downloads</a:t>
            </a:r>
          </a:p>
          <a:p xmlns:a="http://schemas.openxmlformats.org/drawingml/2006/main">
            <a:r>
              <a:t>- https://librivox.org/pages/about-librivox/</a:t>
            </a:r>
          </a:p>
          <a:p xmlns:a="http://schemas.openxmlformats.org/drawingml/2006/main">
            <a:r>
              <a:t>- https://www.gutenberg.org/policy/permission.html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German Course AI language-specific lab examples.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 seed data and tests in the local gca source tree.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optional AI path uses a local LM Studio endpoint. The token ledger stores usage metadata, not prompt or response text.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application source: gca/ai.py and gca/db.py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Delivery summary based on the packaged executable and automated test suite.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German Course AI local build output</a:t>
            </a:r>
          </a:p>
          <a:p xmlns:a="http://schemas.openxmlformats.org/drawingml/2006/main">
            <a:r>
              <a:t>- German Course AI pytest results</a:t>
            </a:r>
          </a:p>
          <a:p xmlns:a="http://schemas.openxmlformats.org/drawingml/2006/main">
            <a:r>
              <a:t>- https://github.com/Azizsekerdil/GermanCourseAI/releases/tag/v1.1.1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f4af0be309416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b4d5b45f33a4a16" /><Relationship Type="http://schemas.openxmlformats.org/officeDocument/2006/relationships/slideLayout" Target="/ppt/slideLayouts/slideLayout1.xml" Id="Rc10bdf3010b7418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10bdf3010b7418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9c9fa497864413" /><Relationship Type="http://schemas.openxmlformats.org/officeDocument/2006/relationships/image" Target="/ppt/media/image.png" Id="Rc2c8495a8d724b27" /><Relationship Type="http://schemas.openxmlformats.org/officeDocument/2006/relationships/notesSlide" Target="/ppt/notesSlides/notesSlide1.xml" Id="R5e1588f913e94c5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2f2ef85a2540ca" /><Relationship Type="http://schemas.openxmlformats.org/officeDocument/2006/relationships/image" Target="/ppt/media/image.jpeg" Id="R0c35db834f2048f5" /><Relationship Type="http://schemas.openxmlformats.org/officeDocument/2006/relationships/notesSlide" Target="/ppt/notesSlides/notesSlide2.xml" Id="R3e854c88ff0648a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44e5ead8c745e6" /><Relationship Type="http://schemas.openxmlformats.org/officeDocument/2006/relationships/notesSlide" Target="/ppt/notesSlides/notesSlide3.xml" Id="Rc7212aefaba04b7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7ac1ffe0054470" /><Relationship Type="http://schemas.openxmlformats.org/officeDocument/2006/relationships/notesSlide" Target="/ppt/notesSlides/notesSlide4.xml" Id="R638edaa95f2d442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461bbd0e114142" /><Relationship Type="http://schemas.openxmlformats.org/officeDocument/2006/relationships/notesSlide" Target="/ppt/notesSlides/notesSlide5.xml" Id="R5854b470d0ba4a3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7922ddbb4e4c89" /><Relationship Type="http://schemas.openxmlformats.org/officeDocument/2006/relationships/notesSlide" Target="/ppt/notesSlides/notesSlide6.xml" Id="R2598ba8eff9d42a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box-1">
            <a:extLst xmlns:a="http://schemas.openxmlformats.org/drawingml/2006/main">
              <a:ext uri="{FF2B5EF4-FFF2-40B4-BE49-F238E27FC236}">
                <a16:creationId xmlns:a16="http://schemas.microsoft.com/office/drawing/2014/main" id="{81F360CB-F245-47C0-BF1C-6838DDFB7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EB0525FE-B9EF-4F56-94E3-D3253F03D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GERMAN COURSE AI</a:t>
            </a:r>
          </a:p>
        </p:txBody>
      </p:sp>
      <p:sp>
        <p:nvSpPr>
          <p:cNvPr id="3" name="text-3">
            <a:extLst xmlns:a="http://schemas.openxmlformats.org/drawingml/2006/main">
              <a:ext uri="{FF2B5EF4-FFF2-40B4-BE49-F238E27FC236}">
                <a16:creationId xmlns:a16="http://schemas.microsoft.com/office/drawing/2014/main" id="{8C381A21-F824-4D19-9B2B-7F2B1A590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01 / 06</a:t>
            </a:r>
          </a:p>
        </p:txBody>
      </p:sp>
      <p:sp>
        <p:nvSpPr>
          <p:cNvPr id="4" name="text-4">
            <a:extLst xmlns:a="http://schemas.openxmlformats.org/drawingml/2006/main">
              <a:ext uri="{FF2B5EF4-FFF2-40B4-BE49-F238E27FC236}">
                <a16:creationId xmlns:a16="http://schemas.microsoft.com/office/drawing/2014/main" id="{DC8C4126-1AE8-4567-8CFC-630A510F5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2390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OFFLINE-FIRST WINDOWS LANGUAGE LEARNING</a:t>
            </a:r>
          </a:p>
        </p:txBody>
      </p:sp>
      <p:sp>
        <p:nvSpPr>
          <p:cNvPr id="5" name="text-5">
            <a:extLst xmlns:a="http://schemas.openxmlformats.org/drawingml/2006/main">
              <a:ext uri="{FF2B5EF4-FFF2-40B4-BE49-F238E27FC236}">
                <a16:creationId xmlns:a16="http://schemas.microsoft.com/office/drawing/2014/main" id="{D2B01093-D142-4E98-A5DA-392F0727C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8191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German Course AI</a:t>
            </a:r>
          </a:p>
        </p:txBody>
      </p:sp>
      <p:sp>
        <p:nvSpPr>
          <p:cNvPr id="6" name="text-6">
            <a:extLst xmlns:a="http://schemas.openxmlformats.org/drawingml/2006/main">
              <a:ext uri="{FF2B5EF4-FFF2-40B4-BE49-F238E27FC236}">
                <a16:creationId xmlns:a16="http://schemas.microsoft.com/office/drawing/2014/main" id="{E0CC9E1D-3FF3-4A82-9A63-083334145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43200"/>
            <a:ext cx="704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Türkçe · English · Deutsch</a:t>
            </a:r>
          </a:p>
        </p:txBody>
      </p:sp>
      <p:sp>
        <p:nvSpPr>
          <p:cNvPr id="7" name="text-7">
            <a:extLst xmlns:a="http://schemas.openxmlformats.org/drawingml/2006/main">
              <a:ext uri="{FF2B5EF4-FFF2-40B4-BE49-F238E27FC236}">
                <a16:creationId xmlns:a16="http://schemas.microsoft.com/office/drawing/2014/main" id="{9DBF5995-F3CD-497F-8764-AF2CC67B8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91000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Yerel, ölçülebilir Almanca öğrenimi</a:t>
            </a:r>
          </a:p>
        </p:txBody>
      </p:sp>
      <p:sp>
        <p:nvSpPr>
          <p:cNvPr id="8" name="text-8">
            <a:extLst xmlns:a="http://schemas.openxmlformats.org/drawingml/2006/main">
              <a:ext uri="{FF2B5EF4-FFF2-40B4-BE49-F238E27FC236}">
                <a16:creationId xmlns:a16="http://schemas.microsoft.com/office/drawing/2014/main" id="{E0CCFBD0-B7F1-488D-8576-764C8F14A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910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Local, measurable German learning</a:t>
            </a:r>
          </a:p>
        </p:txBody>
      </p:sp>
      <p:sp>
        <p:nvSpPr>
          <p:cNvPr id="9" name="text-9">
            <a:extLst xmlns:a="http://schemas.openxmlformats.org/drawingml/2006/main">
              <a:ext uri="{FF2B5EF4-FFF2-40B4-BE49-F238E27FC236}">
                <a16:creationId xmlns:a16="http://schemas.microsoft.com/office/drawing/2014/main" id="{6C285D98-1C64-4C9D-AEF2-5878AF3E0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Lokales, messbares Deutschlernen</a:t>
            </a:r>
          </a:p>
        </p:txBody>
      </p:sp>
      <p:sp>
        <p:nvSpPr>
          <p:cNvPr id="10" name="box-10">
            <a:extLst xmlns:a="http://schemas.openxmlformats.org/drawingml/2006/main">
              <a:ext uri="{FF2B5EF4-FFF2-40B4-BE49-F238E27FC236}">
                <a16:creationId xmlns:a16="http://schemas.microsoft.com/office/drawing/2014/main" id="{E449ED2E-2A73-4A37-841E-FD2C170BA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314450"/>
            <a:ext cx="2381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CF"/>
          </a:solidFill>
          <a:ln xmlns:a="http://schemas.openxmlformats.org/drawingml/2006/main" w="19050">
            <a:solidFill>
              <a:srgbClr val="E8AE2E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c8495a8d724b27"/>
          <a:stretch xmlns:a="http://schemas.openxmlformats.org/drawingml/2006/main"/>
        </p:blipFill>
        <p:spPr>
          <a:xfrm xmlns:a="http://schemas.openxmlformats.org/drawingml/2006/main">
            <a:off x="8963025" y="1552575"/>
            <a:ext cx="1905000" cy="1905000"/>
          </a:xfrm>
          <a:prstGeom xmlns:a="http://schemas.openxmlformats.org/drawingml/2006/main" prst="rect">
            <a:avLst/>
          </a:prstGeom>
        </p:spPr>
      </p:pic>
      <p:sp>
        <p:nvSpPr>
          <p:cNvPr id="12" name="text-11">
            <a:extLst xmlns:a="http://schemas.openxmlformats.org/drawingml/2006/main">
              <a:ext uri="{FF2B5EF4-FFF2-40B4-BE49-F238E27FC236}">
                <a16:creationId xmlns:a16="http://schemas.microsoft.com/office/drawing/2014/main" id="{FE8EA043-F475-4F84-B0BB-0323BCD07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0005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Windows x64 · macOS arm64</a:t>
            </a:r>
          </a:p>
        </p:txBody>
      </p:sp>
    </p:spTree>
    <p:extLst>
      <p:ext uri="{BB962C8B-B14F-4D97-AF65-F5344CB8AC3E}">
        <p14:creationId xmlns:p14="http://schemas.microsoft.com/office/powerpoint/2010/main" val="78335927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box-12">
            <a:extLst xmlns:a="http://schemas.openxmlformats.org/drawingml/2006/main">
              <a:ext uri="{FF2B5EF4-FFF2-40B4-BE49-F238E27FC236}">
                <a16:creationId xmlns:a16="http://schemas.microsoft.com/office/drawing/2014/main" id="{5576D728-0841-4339-A34A-BCEF51E10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2" name="text-13">
            <a:extLst xmlns:a="http://schemas.openxmlformats.org/drawingml/2006/main">
              <a:ext uri="{FF2B5EF4-FFF2-40B4-BE49-F238E27FC236}">
                <a16:creationId xmlns:a16="http://schemas.microsoft.com/office/drawing/2014/main" id="{22A6F555-0A0C-4874-8BD9-4F97AE325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GERMAN COURSE AI</a:t>
            </a:r>
          </a:p>
        </p:txBody>
      </p:sp>
      <p:sp>
        <p:nvSpPr>
          <p:cNvPr id="3" name="text-14">
            <a:extLst xmlns:a="http://schemas.openxmlformats.org/drawingml/2006/main">
              <a:ext uri="{FF2B5EF4-FFF2-40B4-BE49-F238E27FC236}">
                <a16:creationId xmlns:a16="http://schemas.microsoft.com/office/drawing/2014/main" id="{A6F3167B-D030-4FC2-BCBE-638C2A419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02 / 06</a:t>
            </a:r>
          </a:p>
        </p:txBody>
      </p:sp>
      <p:sp>
        <p:nvSpPr>
          <p:cNvPr id="4" name="text-15">
            <a:extLst xmlns:a="http://schemas.openxmlformats.org/drawingml/2006/main">
              <a:ext uri="{FF2B5EF4-FFF2-40B4-BE49-F238E27FC236}">
                <a16:creationId xmlns:a16="http://schemas.microsoft.com/office/drawing/2014/main" id="{443D4EA4-6168-4240-AD82-F2BC42FD5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4095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Lernen ohne Reibung</a:t>
            </a:r>
          </a:p>
        </p:txBody>
      </p:sp>
      <p:sp>
        <p:nvSpPr>
          <p:cNvPr id="5" name="text-16">
            <a:extLst xmlns:a="http://schemas.openxmlformats.org/drawingml/2006/main">
              <a:ext uri="{FF2B5EF4-FFF2-40B4-BE49-F238E27FC236}">
                <a16:creationId xmlns:a16="http://schemas.microsoft.com/office/drawing/2014/main" id="{BCA46E20-5155-48B9-B930-6C434EAAB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859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Tek uygulama, üç arayüz</a:t>
            </a:r>
          </a:p>
        </p:txBody>
      </p:sp>
      <p:sp>
        <p:nvSpPr>
          <p:cNvPr id="6" name="text-17">
            <a:extLst xmlns:a="http://schemas.openxmlformats.org/drawingml/2006/main">
              <a:ext uri="{FF2B5EF4-FFF2-40B4-BE49-F238E27FC236}">
                <a16:creationId xmlns:a16="http://schemas.microsoft.com/office/drawing/2014/main" id="{CBB092C5-C263-422D-94FF-C3E1177DA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098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One app, three interfaces</a:t>
            </a:r>
          </a:p>
        </p:txBody>
      </p:sp>
      <p:sp>
        <p:nvSpPr>
          <p:cNvPr id="7" name="box-18">
            <a:extLst xmlns:a="http://schemas.openxmlformats.org/drawingml/2006/main">
              <a:ext uri="{FF2B5EF4-FFF2-40B4-BE49-F238E27FC236}">
                <a16:creationId xmlns:a16="http://schemas.microsoft.com/office/drawing/2014/main" id="{3DB9ECEC-2D33-4B99-B799-21E29F1E9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09850"/>
            <a:ext cx="3600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8" name="text-19">
            <a:extLst xmlns:a="http://schemas.openxmlformats.org/drawingml/2006/main">
              <a:ext uri="{FF2B5EF4-FFF2-40B4-BE49-F238E27FC236}">
                <a16:creationId xmlns:a16="http://schemas.microsoft.com/office/drawing/2014/main" id="{34195245-61CA-47F1-80FC-37C8DC147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14650"/>
            <a:ext cx="38100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18 Bereiche verbinden Wiederholung, Wortschatz, ein zweisprachiges Wörterbuch DE-EN, Prüfung, Grammatik und Praxis in einem ruhigen Windows-Arbeitsraum.</a:t>
            </a:r>
          </a:p>
        </p:txBody>
      </p:sp>
      <p:sp>
        <p:nvSpPr>
          <p:cNvPr id="9" name="text-20">
            <a:extLst xmlns:a="http://schemas.openxmlformats.org/drawingml/2006/main">
              <a:ext uri="{FF2B5EF4-FFF2-40B4-BE49-F238E27FC236}">
                <a16:creationId xmlns:a16="http://schemas.microsoft.com/office/drawing/2014/main" id="{A8611AF0-D060-4414-B3E0-E2FCE5737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381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Dil seçimi anında kaydedilir; uygulama çevrimdışı çalışmaya devam eder.</a:t>
            </a:r>
          </a:p>
        </p:txBody>
      </p:sp>
      <p:sp>
        <p:nvSpPr>
          <p:cNvPr id="10" name="text-21">
            <a:extLst xmlns:a="http://schemas.openxmlformats.org/drawingml/2006/main">
              <a:ext uri="{FF2B5EF4-FFF2-40B4-BE49-F238E27FC236}">
                <a16:creationId xmlns:a16="http://schemas.microsoft.com/office/drawing/2014/main" id="{C91E01AD-DDC5-4017-8A2F-55101A6D7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19700"/>
            <a:ext cx="381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The language choice persists instantly, and core learning stays available offline.</a:t>
            </a:r>
          </a:p>
        </p:txBody>
      </p:sp>
      <p:sp>
        <p:nvSpPr>
          <p:cNvPr id="11" name="box-22">
            <a:extLst xmlns:a="http://schemas.openxmlformats.org/drawingml/2006/main">
              <a:ext uri="{FF2B5EF4-FFF2-40B4-BE49-F238E27FC236}">
                <a16:creationId xmlns:a16="http://schemas.microsoft.com/office/drawing/2014/main" id="{0F39A7B5-4590-4761-BF05-A4517B7CF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876300"/>
            <a:ext cx="7277100" cy="495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C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35db834f2048f5"/>
          <a:stretch xmlns:a="http://schemas.openxmlformats.org/drawingml/2006/main"/>
        </p:blipFill>
        <p:spPr>
          <a:xfrm xmlns:a="http://schemas.openxmlformats.org/drawingml/2006/main">
            <a:off x="4692997" y="1047750"/>
            <a:ext cx="6920805" cy="4533900"/>
          </a:xfrm>
          <a:prstGeom xmlns:a="http://schemas.openxmlformats.org/drawingml/2006/main" prst="rect">
            <a:avLst/>
          </a:prstGeom>
        </p:spPr>
      </p:pic>
      <p:sp>
        <p:nvSpPr>
          <p:cNvPr id="13" name="text-23">
            <a:extLst xmlns:a="http://schemas.openxmlformats.org/drawingml/2006/main">
              <a:ext uri="{FF2B5EF4-FFF2-40B4-BE49-F238E27FC236}">
                <a16:creationId xmlns:a16="http://schemas.microsoft.com/office/drawing/2014/main" id="{A58C3669-9383-4E7E-B900-DFF7357DB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5924550"/>
            <a:ext cx="6934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Gerçek EXE ekranı · Real executable · Echte Anwendung</a:t>
            </a:r>
          </a:p>
        </p:txBody>
      </p:sp>
    </p:spTree>
    <p:extLst>
      <p:ext uri="{BB962C8B-B14F-4D97-AF65-F5344CB8AC3E}">
        <p14:creationId xmlns:p14="http://schemas.microsoft.com/office/powerpoint/2010/main" val="60999317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box-24">
            <a:extLst xmlns:a="http://schemas.openxmlformats.org/drawingml/2006/main">
              <a:ext uri="{FF2B5EF4-FFF2-40B4-BE49-F238E27FC236}">
                <a16:creationId xmlns:a16="http://schemas.microsoft.com/office/drawing/2014/main" id="{6FB6DBE0-82D5-4D64-8ED5-B48CC2A9E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2" name="text-25">
            <a:extLst xmlns:a="http://schemas.openxmlformats.org/drawingml/2006/main">
              <a:ext uri="{FF2B5EF4-FFF2-40B4-BE49-F238E27FC236}">
                <a16:creationId xmlns:a16="http://schemas.microsoft.com/office/drawing/2014/main" id="{B4954BA7-7071-4656-89BF-41FEBCE51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GERMAN COURSE AI</a:t>
            </a:r>
          </a:p>
        </p:txBody>
      </p:sp>
      <p:sp>
        <p:nvSpPr>
          <p:cNvPr id="3" name="text-26">
            <a:extLst xmlns:a="http://schemas.openxmlformats.org/drawingml/2006/main">
              <a:ext uri="{FF2B5EF4-FFF2-40B4-BE49-F238E27FC236}">
                <a16:creationId xmlns:a16="http://schemas.microsoft.com/office/drawing/2014/main" id="{A0910647-0F3E-418D-B2B3-25F1420BC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03 / 06</a:t>
            </a:r>
          </a:p>
        </p:txBody>
      </p:sp>
      <p:sp>
        <p:nvSpPr>
          <p:cNvPr id="4" name="text-27">
            <a:extLst xmlns:a="http://schemas.openxmlformats.org/drawingml/2006/main">
              <a:ext uri="{FF2B5EF4-FFF2-40B4-BE49-F238E27FC236}">
                <a16:creationId xmlns:a16="http://schemas.microsoft.com/office/drawing/2014/main" id="{537B9348-3368-4D45-B079-497BACE86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 learning engine that remembers</a:t>
            </a:r>
          </a:p>
        </p:txBody>
      </p:sp>
      <p:sp>
        <p:nvSpPr>
          <p:cNvPr id="5" name="text-28">
            <a:extLst xmlns:a="http://schemas.openxmlformats.org/drawingml/2006/main">
              <a:ext uri="{FF2B5EF4-FFF2-40B4-BE49-F238E27FC236}">
                <a16:creationId xmlns:a16="http://schemas.microsoft.com/office/drawing/2014/main" id="{C732B4A5-D049-4A7A-AC0A-DEA684D95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Öğrenme motoru hatırlar · Die Lernmaschine merkt sich den Fortschritt</a:t>
            </a:r>
          </a:p>
        </p:txBody>
      </p:sp>
      <p:sp>
        <p:nvSpPr>
          <p:cNvPr id="6" name="text-29">
            <a:extLst xmlns:a="http://schemas.openxmlformats.org/drawingml/2006/main">
              <a:ext uri="{FF2B5EF4-FFF2-40B4-BE49-F238E27FC236}">
                <a16:creationId xmlns:a16="http://schemas.microsoft.com/office/drawing/2014/main" id="{E946BCDC-708D-4EDD-B088-38A38A74F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574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TÜRKÇE</a:t>
            </a:r>
          </a:p>
        </p:txBody>
      </p:sp>
      <p:sp>
        <p:nvSpPr>
          <p:cNvPr id="7" name="box-30">
            <a:extLst xmlns:a="http://schemas.openxmlformats.org/drawingml/2006/main">
              <a:ext uri="{FF2B5EF4-FFF2-40B4-BE49-F238E27FC236}">
                <a16:creationId xmlns:a16="http://schemas.microsoft.com/office/drawing/2014/main" id="{608D1953-C335-4654-AC1E-A7ABC7714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956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8" name="text-31">
            <a:extLst xmlns:a="http://schemas.openxmlformats.org/drawingml/2006/main">
              <a:ext uri="{FF2B5EF4-FFF2-40B4-BE49-F238E27FC236}">
                <a16:creationId xmlns:a16="http://schemas.microsoft.com/office/drawing/2014/main" id="{160EC7DA-4FDB-4ACD-8007-DE0D96EB2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813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Her gün doğru sıra</a:t>
            </a:r>
          </a:p>
        </p:txBody>
      </p:sp>
      <p:sp>
        <p:nvSpPr>
          <p:cNvPr id="9" name="text-32">
            <a:extLst xmlns:a="http://schemas.openxmlformats.org/drawingml/2006/main">
              <a:ext uri="{FF2B5EF4-FFF2-40B4-BE49-F238E27FC236}">
                <a16:creationId xmlns:a16="http://schemas.microsoft.com/office/drawing/2014/main" id="{319F383F-646D-4C09-9B98-DD78EF583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62400"/>
            <a:ext cx="3143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SM-2 ve Leitner, yeni ve gecikmiş kartları günlük bir sıraya dönüştürür.</a:t>
            </a:r>
          </a:p>
        </p:txBody>
      </p:sp>
      <p:sp>
        <p:nvSpPr>
          <p:cNvPr id="10" name="text-33">
            <a:extLst xmlns:a="http://schemas.openxmlformats.org/drawingml/2006/main">
              <a:ext uri="{FF2B5EF4-FFF2-40B4-BE49-F238E27FC236}">
                <a16:creationId xmlns:a16="http://schemas.microsoft.com/office/drawing/2014/main" id="{62BF7118-48EF-4694-98E9-E14F052E9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574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ENGLISH</a:t>
            </a:r>
          </a:p>
        </p:txBody>
      </p:sp>
      <p:sp>
        <p:nvSpPr>
          <p:cNvPr id="11" name="box-34">
            <a:extLst xmlns:a="http://schemas.openxmlformats.org/drawingml/2006/main">
              <a:ext uri="{FF2B5EF4-FFF2-40B4-BE49-F238E27FC236}">
                <a16:creationId xmlns:a16="http://schemas.microsoft.com/office/drawing/2014/main" id="{96CEB6BA-6696-4003-B163-DD2DC3EC6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8956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12" name="text-35">
            <a:extLst xmlns:a="http://schemas.openxmlformats.org/drawingml/2006/main">
              <a:ext uri="{FF2B5EF4-FFF2-40B4-BE49-F238E27FC236}">
                <a16:creationId xmlns:a16="http://schemas.microsoft.com/office/drawing/2014/main" id="{A33B70D7-4BDF-455B-A60B-CD99CF166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1813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Practice with evidence</a:t>
            </a:r>
          </a:p>
        </p:txBody>
      </p:sp>
      <p:sp>
        <p:nvSpPr>
          <p:cNvPr id="13" name="text-36">
            <a:extLst xmlns:a="http://schemas.openxmlformats.org/drawingml/2006/main">
              <a:ext uri="{FF2B5EF4-FFF2-40B4-BE49-F238E27FC236}">
                <a16:creationId xmlns:a16="http://schemas.microsoft.com/office/drawing/2014/main" id="{F40D4C2C-C5D2-48E1-9F75-BA59443C1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962400"/>
            <a:ext cx="3143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160 A1 entries, a 1,260-entry DE-EN dictionary, strict spelling, exams, favorites and mistakes share one SQLite record.</a:t>
            </a:r>
          </a:p>
        </p:txBody>
      </p:sp>
      <p:sp>
        <p:nvSpPr>
          <p:cNvPr id="14" name="text-37">
            <a:extLst xmlns:a="http://schemas.openxmlformats.org/drawingml/2006/main">
              <a:ext uri="{FF2B5EF4-FFF2-40B4-BE49-F238E27FC236}">
                <a16:creationId xmlns:a16="http://schemas.microsoft.com/office/drawing/2014/main" id="{6629592E-453F-44C7-ADEA-47135C01E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4574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DEUTSCH</a:t>
            </a:r>
          </a:p>
        </p:txBody>
      </p:sp>
      <p:sp>
        <p:nvSpPr>
          <p:cNvPr id="15" name="box-38">
            <a:extLst xmlns:a="http://schemas.openxmlformats.org/drawingml/2006/main">
              <a:ext uri="{FF2B5EF4-FFF2-40B4-BE49-F238E27FC236}">
                <a16:creationId xmlns:a16="http://schemas.microsoft.com/office/drawing/2014/main" id="{8FC5A985-9A64-4F4D-9277-542E4D3F2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8956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16" name="text-39">
            <a:extLst xmlns:a="http://schemas.openxmlformats.org/drawingml/2006/main">
              <a:ext uri="{FF2B5EF4-FFF2-40B4-BE49-F238E27FC236}">
                <a16:creationId xmlns:a16="http://schemas.microsoft.com/office/drawing/2014/main" id="{836C5D1A-9B89-466B-BF2C-E1FCCA462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1813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Fortschritt bleibt lokal</a:t>
            </a:r>
          </a:p>
        </p:txBody>
      </p:sp>
      <p:sp>
        <p:nvSpPr>
          <p:cNvPr id="17" name="text-40">
            <a:extLst xmlns:a="http://schemas.openxmlformats.org/drawingml/2006/main">
              <a:ext uri="{FF2B5EF4-FFF2-40B4-BE49-F238E27FC236}">
                <a16:creationId xmlns:a16="http://schemas.microsoft.com/office/drawing/2014/main" id="{FD0220FF-A81F-4F79-BCDC-4BFE9D075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962400"/>
            <a:ext cx="3143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Wiederholung, Fehler, Favoriten und Prüfungen werden lokal und nachvollziehbar gespeichert.</a:t>
            </a:r>
          </a:p>
        </p:txBody>
      </p:sp>
      <p:sp>
        <p:nvSpPr>
          <p:cNvPr id="18" name="text-41">
            <a:extLst xmlns:a="http://schemas.openxmlformats.org/drawingml/2006/main">
              <a:ext uri="{FF2B5EF4-FFF2-40B4-BE49-F238E27FC236}">
                <a16:creationId xmlns:a16="http://schemas.microsoft.com/office/drawing/2014/main" id="{017FFD23-C791-4595-98FD-89BC5B398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6740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Kaynak kataloğu / resource catalog / Quellenkatalog: Wikibooks · Tatoeba · LibriVox · Project Gutenberg</a:t>
            </a:r>
          </a:p>
        </p:txBody>
      </p:sp>
    </p:spTree>
    <p:extLst>
      <p:ext uri="{BB962C8B-B14F-4D97-AF65-F5344CB8AC3E}">
        <p14:creationId xmlns:p14="http://schemas.microsoft.com/office/powerpoint/2010/main" val="147319263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box-42">
            <a:extLst xmlns:a="http://schemas.openxmlformats.org/drawingml/2006/main">
              <a:ext uri="{FF2B5EF4-FFF2-40B4-BE49-F238E27FC236}">
                <a16:creationId xmlns:a16="http://schemas.microsoft.com/office/drawing/2014/main" id="{F1EA8EE1-1BA4-4BB7-BFE4-4E4FDB342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2" name="text-43">
            <a:extLst xmlns:a="http://schemas.openxmlformats.org/drawingml/2006/main">
              <a:ext uri="{FF2B5EF4-FFF2-40B4-BE49-F238E27FC236}">
                <a16:creationId xmlns:a16="http://schemas.microsoft.com/office/drawing/2014/main" id="{73A78BEF-41F4-4101-8384-C4CBB4698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GERMAN COURSE AI</a:t>
            </a:r>
          </a:p>
        </p:txBody>
      </p:sp>
      <p:sp>
        <p:nvSpPr>
          <p:cNvPr id="3" name="text-44">
            <a:extLst xmlns:a="http://schemas.openxmlformats.org/drawingml/2006/main">
              <a:ext uri="{FF2B5EF4-FFF2-40B4-BE49-F238E27FC236}">
                <a16:creationId xmlns:a16="http://schemas.microsoft.com/office/drawing/2014/main" id="{B1C29325-E632-47AB-A551-D1BDB5A1C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04 / 06</a:t>
            </a:r>
          </a:p>
        </p:txBody>
      </p:sp>
      <p:sp>
        <p:nvSpPr>
          <p:cNvPr id="4" name="text-45">
            <a:extLst xmlns:a="http://schemas.openxmlformats.org/drawingml/2006/main">
              <a:ext uri="{FF2B5EF4-FFF2-40B4-BE49-F238E27FC236}">
                <a16:creationId xmlns:a16="http://schemas.microsoft.com/office/drawing/2014/main" id="{3384D07F-C00D-457E-B818-513D13ED5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Deutsch verdient präzise Werkzeuge</a:t>
            </a:r>
          </a:p>
        </p:txBody>
      </p:sp>
      <p:sp>
        <p:nvSpPr>
          <p:cNvPr id="5" name="text-46">
            <a:extLst xmlns:a="http://schemas.openxmlformats.org/drawingml/2006/main">
              <a:ext uri="{FF2B5EF4-FFF2-40B4-BE49-F238E27FC236}">
                <a16:creationId xmlns:a16="http://schemas.microsoft.com/office/drawing/2014/main" id="{47E2A02E-02EF-40E3-ABC3-F716E7773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Almancaya özgü laboratuvar  ·  A German-specific language lab</a:t>
            </a:r>
          </a:p>
        </p:txBody>
      </p:sp>
      <p:sp>
        <p:nvSpPr>
          <p:cNvPr id="6" name="box-47">
            <a:extLst xmlns:a="http://schemas.openxmlformats.org/drawingml/2006/main">
              <a:ext uri="{FF2B5EF4-FFF2-40B4-BE49-F238E27FC236}">
                <a16:creationId xmlns:a16="http://schemas.microsoft.com/office/drawing/2014/main" id="{0F9FD743-CE34-4C36-B9BA-FC0C52B9A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288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7" name="text-48">
            <a:extLst xmlns:a="http://schemas.openxmlformats.org/drawingml/2006/main">
              <a:ext uri="{FF2B5EF4-FFF2-40B4-BE49-F238E27FC236}">
                <a16:creationId xmlns:a16="http://schemas.microsoft.com/office/drawing/2014/main" id="{6A7A53CF-A6A3-42E6-8256-6B999B3AD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384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der Tisch · die Tische</a:t>
            </a:r>
          </a:p>
        </p:txBody>
      </p:sp>
      <p:sp>
        <p:nvSpPr>
          <p:cNvPr id="8" name="text-49">
            <a:extLst xmlns:a="http://schemas.openxmlformats.org/drawingml/2006/main">
              <a:ext uri="{FF2B5EF4-FFF2-40B4-BE49-F238E27FC236}">
                <a16:creationId xmlns:a16="http://schemas.microsoft.com/office/drawing/2014/main" id="{5FF2C07A-97A6-4AAC-902F-D74599A57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861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Artikel + çoğul birlikte · article and plural together · Artikel und Plural zusammen</a:t>
            </a:r>
          </a:p>
        </p:txBody>
      </p:sp>
      <p:sp>
        <p:nvSpPr>
          <p:cNvPr id="9" name="box-50">
            <a:extLst xmlns:a="http://schemas.openxmlformats.org/drawingml/2006/main">
              <a:ext uri="{FF2B5EF4-FFF2-40B4-BE49-F238E27FC236}">
                <a16:creationId xmlns:a16="http://schemas.microsoft.com/office/drawing/2014/main" id="{C31B7107-251C-4712-9393-F636DA907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288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0" name="text-51">
            <a:extLst xmlns:a="http://schemas.openxmlformats.org/drawingml/2006/main">
              <a:ext uri="{FF2B5EF4-FFF2-40B4-BE49-F238E27FC236}">
                <a16:creationId xmlns:a16="http://schemas.microsoft.com/office/drawing/2014/main" id="{668A5964-D75C-4559-A853-F573077B5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4384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ä · ö · ü</a:t>
            </a:r>
          </a:p>
        </p:txBody>
      </p:sp>
      <p:sp>
        <p:nvSpPr>
          <p:cNvPr id="11" name="text-52">
            <a:extLst xmlns:a="http://schemas.openxmlformats.org/drawingml/2006/main">
              <a:ext uri="{FF2B5EF4-FFF2-40B4-BE49-F238E27FC236}">
                <a16:creationId xmlns:a16="http://schemas.microsoft.com/office/drawing/2014/main" id="{146FFFC5-0DE8-49F6-B26B-3A063C2D5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61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Umlaut araması kontrollü · controlled umlaut search · kontrollierte Umlautsuche</a:t>
            </a:r>
          </a:p>
        </p:txBody>
      </p:sp>
      <p:sp>
        <p:nvSpPr>
          <p:cNvPr id="12" name="box-53">
            <a:extLst xmlns:a="http://schemas.openxmlformats.org/drawingml/2006/main">
              <a:ext uri="{FF2B5EF4-FFF2-40B4-BE49-F238E27FC236}">
                <a16:creationId xmlns:a16="http://schemas.microsoft.com/office/drawing/2014/main" id="{9EBB08A0-B35E-4C63-BB90-CB2B08A5C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957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3" name="text-54">
            <a:extLst xmlns:a="http://schemas.openxmlformats.org/drawingml/2006/main">
              <a:ext uri="{FF2B5EF4-FFF2-40B4-BE49-F238E27FC236}">
                <a16:creationId xmlns:a16="http://schemas.microsoft.com/office/drawing/2014/main" id="{F1F5444E-E382-49FF-B749-94130EFAB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Straße · Grüße</a:t>
            </a:r>
          </a:p>
        </p:txBody>
      </p:sp>
      <p:sp>
        <p:nvSpPr>
          <p:cNvPr id="14" name="text-55">
            <a:extLst xmlns:a="http://schemas.openxmlformats.org/drawingml/2006/main">
              <a:ext uri="{FF2B5EF4-FFF2-40B4-BE49-F238E27FC236}">
                <a16:creationId xmlns:a16="http://schemas.microsoft.com/office/drawing/2014/main" id="{3CE32CD1-AD16-4749-AFF1-8FAF1A014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ß aramada esnek, yanıtta kesin · flexible search, strict answer · flexible Suche, genaue Antwort</a:t>
            </a:r>
          </a:p>
        </p:txBody>
      </p:sp>
      <p:sp>
        <p:nvSpPr>
          <p:cNvPr id="15" name="box-56">
            <a:extLst xmlns:a="http://schemas.openxmlformats.org/drawingml/2006/main">
              <a:ext uri="{FF2B5EF4-FFF2-40B4-BE49-F238E27FC236}">
                <a16:creationId xmlns:a16="http://schemas.microsoft.com/office/drawing/2014/main" id="{15C21E6E-4812-4CB0-9144-C9B8956E0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0957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text-57">
            <a:extLst xmlns:a="http://schemas.openxmlformats.org/drawingml/2006/main">
              <a:ext uri="{FF2B5EF4-FFF2-40B4-BE49-F238E27FC236}">
                <a16:creationId xmlns:a16="http://schemas.microsoft.com/office/drawing/2014/main" id="{FDCAEB70-D605-46B9-8BB8-4DC6CFDB4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053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Häuser → das Haus</a:t>
            </a:r>
          </a:p>
        </p:txBody>
      </p:sp>
      <p:sp>
        <p:nvSpPr>
          <p:cNvPr id="17" name="text-58">
            <a:extLst xmlns:a="http://schemas.openxmlformats.org/drawingml/2006/main">
              <a:ext uri="{FF2B5EF4-FFF2-40B4-BE49-F238E27FC236}">
                <a16:creationId xmlns:a16="http://schemas.microsoft.com/office/drawing/2014/main" id="{F42E5636-71E0-42B0-9E7A-D010A3029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530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Sözlük çoğuldan tekili bulur · dictionary resolves plurals · Wörterbuch findet den Singular</a:t>
            </a:r>
          </a:p>
        </p:txBody>
      </p:sp>
    </p:spTree>
    <p:extLst>
      <p:ext uri="{BB962C8B-B14F-4D97-AF65-F5344CB8AC3E}">
        <p14:creationId xmlns:p14="http://schemas.microsoft.com/office/powerpoint/2010/main" val="128926809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box-59">
            <a:extLst xmlns:a="http://schemas.openxmlformats.org/drawingml/2006/main">
              <a:ext uri="{FF2B5EF4-FFF2-40B4-BE49-F238E27FC236}">
                <a16:creationId xmlns:a16="http://schemas.microsoft.com/office/drawing/2014/main" id="{2D13435A-2ED0-4CCD-8538-F1D6B4FE3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2" name="text-60">
            <a:extLst xmlns:a="http://schemas.openxmlformats.org/drawingml/2006/main">
              <a:ext uri="{FF2B5EF4-FFF2-40B4-BE49-F238E27FC236}">
                <a16:creationId xmlns:a16="http://schemas.microsoft.com/office/drawing/2014/main" id="{DB47F362-F6A5-49CC-AA41-8B521F4D4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GERMAN COURSE AI</a:t>
            </a:r>
          </a:p>
        </p:txBody>
      </p:sp>
      <p:sp>
        <p:nvSpPr>
          <p:cNvPr id="3" name="text-61">
            <a:extLst xmlns:a="http://schemas.openxmlformats.org/drawingml/2006/main">
              <a:ext uri="{FF2B5EF4-FFF2-40B4-BE49-F238E27FC236}">
                <a16:creationId xmlns:a16="http://schemas.microsoft.com/office/drawing/2014/main" id="{0795BA14-26A4-432B-9999-C6B7674F2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05 / 06</a:t>
            </a:r>
          </a:p>
        </p:txBody>
      </p:sp>
      <p:sp>
        <p:nvSpPr>
          <p:cNvPr id="4" name="text-62">
            <a:extLst xmlns:a="http://schemas.openxmlformats.org/drawingml/2006/main">
              <a:ext uri="{FF2B5EF4-FFF2-40B4-BE49-F238E27FC236}">
                <a16:creationId xmlns:a16="http://schemas.microsoft.com/office/drawing/2014/main" id="{064DD05F-1241-48E6-BC98-7C1462FF4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04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AI isteğe bağlı; mahremiyet varsayılan</a:t>
            </a:r>
          </a:p>
        </p:txBody>
      </p:sp>
      <p:sp>
        <p:nvSpPr>
          <p:cNvPr id="5" name="text-63">
            <a:extLst xmlns:a="http://schemas.openxmlformats.org/drawingml/2006/main">
              <a:ext uri="{FF2B5EF4-FFF2-40B4-BE49-F238E27FC236}">
                <a16:creationId xmlns:a16="http://schemas.microsoft.com/office/drawing/2014/main" id="{C98DEFCF-E1F8-4C76-B816-B0F38B042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AI is optional; privacy is the default  ·  KI ist optional; Datenschutz ist Standard</a:t>
            </a:r>
          </a:p>
        </p:txBody>
      </p:sp>
      <p:sp>
        <p:nvSpPr>
          <p:cNvPr id="6" name="box-64">
            <a:extLst xmlns:a="http://schemas.openxmlformats.org/drawingml/2006/main">
              <a:ext uri="{FF2B5EF4-FFF2-40B4-BE49-F238E27FC236}">
                <a16:creationId xmlns:a16="http://schemas.microsoft.com/office/drawing/2014/main" id="{8E81072C-3F07-4F2C-A142-2ACB840CE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14700"/>
            <a:ext cx="10001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7" name="dot-65">
            <a:extLst xmlns:a="http://schemas.openxmlformats.org/drawingml/2006/main">
              <a:ext uri="{FF2B5EF4-FFF2-40B4-BE49-F238E27FC236}">
                <a16:creationId xmlns:a16="http://schemas.microsoft.com/office/drawing/2014/main" id="{3FE56057-690B-4D01-8721-3FAD65D37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99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66">
            <a:extLst xmlns:a="http://schemas.openxmlformats.org/drawingml/2006/main">
              <a:ext uri="{FF2B5EF4-FFF2-40B4-BE49-F238E27FC236}">
                <a16:creationId xmlns:a16="http://schemas.microsoft.com/office/drawing/2014/main" id="{58341DFA-2224-47A4-BC55-E765698D6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01 · CONTEXT</a:t>
            </a:r>
          </a:p>
        </p:txBody>
      </p:sp>
      <p:sp>
        <p:nvSpPr>
          <p:cNvPr id="9" name="text-67">
            <a:extLst xmlns:a="http://schemas.openxmlformats.org/drawingml/2006/main">
              <a:ext uri="{FF2B5EF4-FFF2-40B4-BE49-F238E27FC236}">
                <a16:creationId xmlns:a16="http://schemas.microsoft.com/office/drawing/2014/main" id="{9B73D8C9-9F82-458C-858E-82DA6A26A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Öğrenci bağlamı</a:t>
            </a:r>
          </a:p>
        </p:txBody>
      </p:sp>
      <p:sp>
        <p:nvSpPr>
          <p:cNvPr id="10" name="text-68">
            <a:extLst xmlns:a="http://schemas.openxmlformats.org/drawingml/2006/main">
              <a:ext uri="{FF2B5EF4-FFF2-40B4-BE49-F238E27FC236}">
                <a16:creationId xmlns:a16="http://schemas.microsoft.com/office/drawing/2014/main" id="{DEC681D7-D6EF-4DDF-BD91-1AE55F33C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Seviye, hedef ve etkin çalışma uygulama içinde derlenir.</a:t>
            </a:r>
          </a:p>
        </p:txBody>
      </p:sp>
      <p:sp>
        <p:nvSpPr>
          <p:cNvPr id="11" name="dot-69">
            <a:extLst xmlns:a="http://schemas.openxmlformats.org/drawingml/2006/main">
              <a:ext uri="{FF2B5EF4-FFF2-40B4-BE49-F238E27FC236}">
                <a16:creationId xmlns:a16="http://schemas.microsoft.com/office/drawing/2014/main" id="{A04C76ED-897D-4D7E-9787-A0D2CA2FB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2099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70">
            <a:extLst xmlns:a="http://schemas.openxmlformats.org/drawingml/2006/main">
              <a:ext uri="{FF2B5EF4-FFF2-40B4-BE49-F238E27FC236}">
                <a16:creationId xmlns:a16="http://schemas.microsoft.com/office/drawing/2014/main" id="{F4B60B00-6520-4B83-8D03-27C3D20D7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02 · LOCAL MODEL</a:t>
            </a:r>
          </a:p>
        </p:txBody>
      </p:sp>
      <p:sp>
        <p:nvSpPr>
          <p:cNvPr id="13" name="text-71">
            <a:extLst xmlns:a="http://schemas.openxmlformats.org/drawingml/2006/main">
              <a:ext uri="{FF2B5EF4-FFF2-40B4-BE49-F238E27FC236}">
                <a16:creationId xmlns:a16="http://schemas.microsoft.com/office/drawing/2014/main" id="{78BC3173-E398-477F-996B-F7C86BFC0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695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LM Studio / alt. uç</a:t>
            </a:r>
          </a:p>
        </p:txBody>
      </p:sp>
      <p:sp>
        <p:nvSpPr>
          <p:cNvPr id="14" name="text-72">
            <a:extLst xmlns:a="http://schemas.openxmlformats.org/drawingml/2006/main">
              <a:ext uri="{FF2B5EF4-FFF2-40B4-BE49-F238E27FC236}">
                <a16:creationId xmlns:a16="http://schemas.microsoft.com/office/drawing/2014/main" id="{7E1C5B7B-8E18-4A35-AE6A-25448E4F9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38150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Önce yerel LM Studio; isteğe bağlı NVIDIA NIM veya özel OpenAI uyumlu uç. API anahtarı diske yazılmaz.</a:t>
            </a:r>
          </a:p>
        </p:txBody>
      </p:sp>
      <p:sp>
        <p:nvSpPr>
          <p:cNvPr id="15" name="dot-73">
            <a:extLst xmlns:a="http://schemas.openxmlformats.org/drawingml/2006/main">
              <a:ext uri="{FF2B5EF4-FFF2-40B4-BE49-F238E27FC236}">
                <a16:creationId xmlns:a16="http://schemas.microsoft.com/office/drawing/2014/main" id="{9EA86E5F-2552-4DDC-8E74-1996A9B9D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2099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74">
            <a:extLst xmlns:a="http://schemas.openxmlformats.org/drawingml/2006/main">
              <a:ext uri="{FF2B5EF4-FFF2-40B4-BE49-F238E27FC236}">
                <a16:creationId xmlns:a16="http://schemas.microsoft.com/office/drawing/2014/main" id="{86594EAB-00B6-4B70-BE71-F864D4B70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03 · RECORD</a:t>
            </a:r>
          </a:p>
        </p:txBody>
      </p:sp>
      <p:sp>
        <p:nvSpPr>
          <p:cNvPr id="17" name="text-75">
            <a:extLst xmlns:a="http://schemas.openxmlformats.org/drawingml/2006/main">
              <a:ext uri="{FF2B5EF4-FFF2-40B4-BE49-F238E27FC236}">
                <a16:creationId xmlns:a16="http://schemas.microsoft.com/office/drawing/2014/main" id="{F29A1882-9FDC-48EF-890B-E5E125FFB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695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Güvenli kayıt</a:t>
            </a:r>
          </a:p>
        </p:txBody>
      </p:sp>
      <p:sp>
        <p:nvSpPr>
          <p:cNvPr id="18" name="text-76">
            <a:extLst xmlns:a="http://schemas.openxmlformats.org/drawingml/2006/main">
              <a:ext uri="{FF2B5EF4-FFF2-40B4-BE49-F238E27FC236}">
                <a16:creationId xmlns:a16="http://schemas.microsoft.com/office/drawing/2014/main" id="{307BED5D-588E-4827-8E2C-05864517C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38150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Yalnızca süre, token sayısı ve durum tutulur; konuşma metni tutulmaz.</a:t>
            </a:r>
          </a:p>
        </p:txBody>
      </p:sp>
      <p:sp>
        <p:nvSpPr>
          <p:cNvPr id="19" name="box-77">
            <a:extLst xmlns:a="http://schemas.openxmlformats.org/drawingml/2006/main">
              <a:ext uri="{FF2B5EF4-FFF2-40B4-BE49-F238E27FC236}">
                <a16:creationId xmlns:a16="http://schemas.microsoft.com/office/drawing/2014/main" id="{FF35AFEC-3DF5-40E4-81AC-9343839BE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72150"/>
            <a:ext cx="10668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CF"/>
          </a:solidFill>
          <a:ln xmlns:a="http://schemas.openxmlformats.org/drawingml/2006/main" w="0">
            <a:solidFill>
              <a:srgbClr val="FFF3CF"/>
            </a:solidFill>
            <a:prstDash val="solid"/>
          </a:ln>
        </p:spPr>
      </p:sp>
      <p:sp>
        <p:nvSpPr>
          <p:cNvPr id="20" name="text-78">
            <a:extLst xmlns:a="http://schemas.openxmlformats.org/drawingml/2006/main">
              <a:ext uri="{FF2B5EF4-FFF2-40B4-BE49-F238E27FC236}">
                <a16:creationId xmlns:a16="http://schemas.microsoft.com/office/drawing/2014/main" id="{4DD5A8A9-BFA1-48C2-95E0-1D8B65470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8769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Çevrimdışı çekirdek / Offline core / Offline-Kern — AI kapalıyken de tüm temel çalışma akışları kullanılabilir.</a:t>
            </a:r>
          </a:p>
        </p:txBody>
      </p:sp>
    </p:spTree>
    <p:extLst>
      <p:ext uri="{BB962C8B-B14F-4D97-AF65-F5344CB8AC3E}">
        <p14:creationId xmlns:p14="http://schemas.microsoft.com/office/powerpoint/2010/main" val="209369825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box-79">
            <a:extLst xmlns:a="http://schemas.openxmlformats.org/drawingml/2006/main">
              <a:ext uri="{FF2B5EF4-FFF2-40B4-BE49-F238E27FC236}">
                <a16:creationId xmlns:a16="http://schemas.microsoft.com/office/drawing/2014/main" id="{6CE30EFD-E761-4899-9402-305B63FAC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2" name="text-80">
            <a:extLst xmlns:a="http://schemas.openxmlformats.org/drawingml/2006/main">
              <a:ext uri="{FF2B5EF4-FFF2-40B4-BE49-F238E27FC236}">
                <a16:creationId xmlns:a16="http://schemas.microsoft.com/office/drawing/2014/main" id="{C61F8F24-87AD-4B6B-83BC-171425DCD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72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TESLİME HAZIR · READY TO DELIVER · BEREIT ZUR AUSLIEFERUNG</a:t>
            </a:r>
          </a:p>
        </p:txBody>
      </p:sp>
      <p:sp>
        <p:nvSpPr>
          <p:cNvPr id="3" name="text-81">
            <a:extLst xmlns:a="http://schemas.openxmlformats.org/drawingml/2006/main">
              <a:ext uri="{FF2B5EF4-FFF2-40B4-BE49-F238E27FC236}">
                <a16:creationId xmlns:a16="http://schemas.microsoft.com/office/drawing/2014/main" id="{3E293390-3550-4A28-84D8-4EA0BA163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Hazır.</a:t>
            </a:r>
          </a:p>
        </p:txBody>
      </p:sp>
      <p:sp>
        <p:nvSpPr>
          <p:cNvPr id="4" name="text-82">
            <a:extLst xmlns:a="http://schemas.openxmlformats.org/drawingml/2006/main">
              <a:ext uri="{FF2B5EF4-FFF2-40B4-BE49-F238E27FC236}">
                <a16:creationId xmlns:a16="http://schemas.microsoft.com/office/drawing/2014/main" id="{2DD38D03-2E09-49F6-99CC-1E8BDA34E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67640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Ready.</a:t>
            </a:r>
          </a:p>
        </p:txBody>
      </p:sp>
      <p:sp>
        <p:nvSpPr>
          <p:cNvPr id="5" name="text-83">
            <a:extLst xmlns:a="http://schemas.openxmlformats.org/drawingml/2006/main">
              <a:ext uri="{FF2B5EF4-FFF2-40B4-BE49-F238E27FC236}">
                <a16:creationId xmlns:a16="http://schemas.microsoft.com/office/drawing/2014/main" id="{868354DF-136E-425A-8E4E-FC8A86832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676400"/>
            <a:ext cx="2857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Bereit.</a:t>
            </a:r>
          </a:p>
        </p:txBody>
      </p:sp>
      <p:sp>
        <p:nvSpPr>
          <p:cNvPr id="6" name="text-84">
            <a:extLst xmlns:a="http://schemas.openxmlformats.org/drawingml/2006/main">
              <a:ext uri="{FF2B5EF4-FFF2-40B4-BE49-F238E27FC236}">
                <a16:creationId xmlns:a16="http://schemas.microsoft.com/office/drawing/2014/main" id="{908DA866-F89D-434C-BC20-E14598919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24150"/>
            <a:ext cx="885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Bağımsız Windows uygulaması, belgeler, testler ve sunum tek pakette.</a:t>
            </a:r>
          </a:p>
        </p:txBody>
      </p:sp>
      <p:sp>
        <p:nvSpPr>
          <p:cNvPr id="7" name="text-85">
            <a:extLst xmlns:a="http://schemas.openxmlformats.org/drawingml/2006/main">
              <a:ext uri="{FF2B5EF4-FFF2-40B4-BE49-F238E27FC236}">
                <a16:creationId xmlns:a16="http://schemas.microsoft.com/office/drawing/2014/main" id="{3ACA431A-66EA-4BF7-B7E8-D00549514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814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160</a:t>
            </a:r>
          </a:p>
        </p:txBody>
      </p:sp>
      <p:sp>
        <p:nvSpPr>
          <p:cNvPr id="8" name="text-86">
            <a:extLst xmlns:a="http://schemas.openxmlformats.org/drawingml/2006/main">
              <a:ext uri="{FF2B5EF4-FFF2-40B4-BE49-F238E27FC236}">
                <a16:creationId xmlns:a16="http://schemas.microsoft.com/office/drawing/2014/main" id="{6589C204-E743-4EDB-8D2B-2DCDAC368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9814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68 / 68</a:t>
            </a:r>
          </a:p>
        </p:txBody>
      </p:sp>
      <p:sp>
        <p:nvSpPr>
          <p:cNvPr id="9" name="text-87">
            <a:extLst xmlns:a="http://schemas.openxmlformats.org/drawingml/2006/main">
              <a:ext uri="{FF2B5EF4-FFF2-40B4-BE49-F238E27FC236}">
                <a16:creationId xmlns:a16="http://schemas.microsoft.com/office/drawing/2014/main" id="{2CE44457-9E44-4946-862A-003E8DAE4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81450"/>
            <a:ext cx="152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0" name="text-88">
            <a:extLst xmlns:a="http://schemas.openxmlformats.org/drawingml/2006/main">
              <a:ext uri="{FF2B5EF4-FFF2-40B4-BE49-F238E27FC236}">
                <a16:creationId xmlns:a16="http://schemas.microsoft.com/office/drawing/2014/main" id="{D57AE196-213D-4B2F-A922-C333CBF46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672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benzersiz A1 kelime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unique A1 words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eindeutige A1-Wörter</a:t>
            </a:r>
          </a:p>
        </p:txBody>
      </p:sp>
      <p:sp>
        <p:nvSpPr>
          <p:cNvPr id="11" name="text-89">
            <a:extLst xmlns:a="http://schemas.openxmlformats.org/drawingml/2006/main">
              <a:ext uri="{FF2B5EF4-FFF2-40B4-BE49-F238E27FC236}">
                <a16:creationId xmlns:a16="http://schemas.microsoft.com/office/drawing/2014/main" id="{81C4383A-4138-4D6C-8E8D-AF45B836C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6672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otomatik test geçti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automated tests passed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automatische Tests bestanden</a:t>
            </a:r>
          </a:p>
        </p:txBody>
      </p:sp>
      <p:sp>
        <p:nvSpPr>
          <p:cNvPr id="12" name="text-90">
            <a:extLst xmlns:a="http://schemas.openxmlformats.org/drawingml/2006/main">
              <a:ext uri="{FF2B5EF4-FFF2-40B4-BE49-F238E27FC236}">
                <a16:creationId xmlns:a16="http://schemas.microsoft.com/office/drawing/2014/main" id="{548A9D37-6C83-418F-ACC9-5D2A49F7A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667250"/>
            <a:ext cx="2095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öğrenme alanı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learning areas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Lernbereiche</a:t>
            </a:r>
          </a:p>
        </p:txBody>
      </p:sp>
      <p:sp>
        <p:nvSpPr>
          <p:cNvPr id="13" name="box-91">
            <a:extLst xmlns:a="http://schemas.openxmlformats.org/drawingml/2006/main">
              <a:ext uri="{FF2B5EF4-FFF2-40B4-BE49-F238E27FC236}">
                <a16:creationId xmlns:a16="http://schemas.microsoft.com/office/drawing/2014/main" id="{25A8D1EB-7E4E-4FF0-A406-F8341745E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14" name="text-92">
            <a:extLst xmlns:a="http://schemas.openxmlformats.org/drawingml/2006/main">
              <a:ext uri="{FF2B5EF4-FFF2-40B4-BE49-F238E27FC236}">
                <a16:creationId xmlns:a16="http://schemas.microsoft.com/office/drawing/2014/main" id="{D2A93639-3E22-4B7A-BFEB-80D51F907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EXE + source + docs + private GitHub + trilingual deck · EXE + kaynak + belgeler + özel GitHub + üç dilli sunum</a:t>
            </a:r>
          </a:p>
        </p:txBody>
      </p:sp>
      <p:sp>
        <p:nvSpPr>
          <p:cNvPr id="15" name="text-93">
            <a:extLst xmlns:a="http://schemas.openxmlformats.org/drawingml/2006/main">
              <a:ext uri="{FF2B5EF4-FFF2-40B4-BE49-F238E27FC236}">
                <a16:creationId xmlns:a16="http://schemas.microsoft.com/office/drawing/2014/main" id="{D7616857-0A1B-4BE0-A739-BFC04863C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6265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Windows 10/11 (x64) + macOS (Apple Silicon) — İndirme: github.com/Azizsekerdil/GermanCourseAI/releases (v1.1.1) · (özel repo)</a:t>
            </a:r>
          </a:p>
        </p:txBody>
      </p:sp>
      <p:sp>
        <p:nvSpPr>
          <p:cNvPr id="16" name="text-94">
            <a:extLst xmlns:a="http://schemas.openxmlformats.org/drawingml/2006/main">
              <a:ext uri="{FF2B5EF4-FFF2-40B4-BE49-F238E27FC236}">
                <a16:creationId xmlns:a16="http://schemas.microsoft.com/office/drawing/2014/main" id="{81EB301F-A4B7-4E76-A905-F7CC9F1E1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Windows 10/11 (x64) &amp; macOS (Apple Silicon) — Download: GitHub Releases (v1.1.1)</a:t>
            </a:r>
          </a:p>
        </p:txBody>
      </p:sp>
      <p:sp>
        <p:nvSpPr>
          <p:cNvPr id="17" name="text-95">
            <a:extLst xmlns:a="http://schemas.openxmlformats.org/drawingml/2006/main">
              <a:ext uri="{FF2B5EF4-FFF2-40B4-BE49-F238E27FC236}">
                <a16:creationId xmlns:a16="http://schemas.microsoft.com/office/drawing/2014/main" id="{95099386-E50D-4DF4-BDC5-59316CD55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0080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macOS paketi Apple Silicon (arm64) içindir ve notarize edilmemiştir; ilk açılışta sağ tık → Aç. / Not notarized; first launch: right-click → Open.</a:t>
            </a:r>
          </a:p>
        </p:txBody>
      </p:sp>
    </p:spTree>
    <p:extLst>
      <p:ext uri="{BB962C8B-B14F-4D97-AF65-F5344CB8AC3E}">
        <p14:creationId xmlns:p14="http://schemas.microsoft.com/office/powerpoint/2010/main" val="21031174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2026-09-06T08:56:42.2200000Z</dcterms:created>
  <dcterms:modified xsi:type="dcterms:W3CDTF">2026-09-06T08:56:42.2200000Z</dcterms:modified>
</coreProperties>
</file>