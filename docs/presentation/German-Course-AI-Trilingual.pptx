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4162f6fd7ec84d21" /><Relationship Type="http://schemas.openxmlformats.org/officeDocument/2006/relationships/extended-properties" Target="/docProps/app.xml" Id="R5981212c169d43c3" /><Relationship Type="http://schemas.openxmlformats.org/officeDocument/2006/relationships/officeDocument" Target="/ppt/presentation.xml" Id="R85318f215b7b4d19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4c57ff539e24198"/>
  </p:sldMasterIdLst>
  <p:notesMasterIdLst>
    <p:notesMasterId xmlns:r="http://schemas.openxmlformats.org/officeDocument/2006/relationships" r:id="R6fd61037b7d24fe0"/>
  </p:notesMasterIdLst>
  <p:sldIdLst>
    <p:sldId xmlns:r="http://schemas.openxmlformats.org/officeDocument/2006/relationships" id="256" r:id="R889e67e590fc420d"/>
    <p:sldId xmlns:r="http://schemas.openxmlformats.org/officeDocument/2006/relationships" id="257" r:id="Re26b2e4e4ac74968"/>
    <p:sldId xmlns:r="http://schemas.openxmlformats.org/officeDocument/2006/relationships" id="258" r:id="R7600acda1f1d483b"/>
    <p:sldId xmlns:r="http://schemas.openxmlformats.org/officeDocument/2006/relationships" id="259" r:id="Rea40ac7185a1480b"/>
    <p:sldId xmlns:r="http://schemas.openxmlformats.org/officeDocument/2006/relationships" id="260" r:id="R10ec942133944d27"/>
    <p:sldId xmlns:r="http://schemas.openxmlformats.org/officeDocument/2006/relationships" id="261" r:id="R3ca0831b9419417d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2b81a7faf034fcb" /><Relationship Type="http://schemas.openxmlformats.org/officeDocument/2006/relationships/slideMaster" Target="/ppt/slideMasters/slideMaster1.xml" Id="R14c57ff539e24198" /><Relationship Type="http://schemas.openxmlformats.org/officeDocument/2006/relationships/notesMaster" Target="/ppt/notesMasters/notesMaster1.xml" Id="R6fd61037b7d24fe0" /><Relationship Type="http://schemas.openxmlformats.org/officeDocument/2006/relationships/presProps" Target="/ppt/presProps.xml" Id="R7aa013a1a8224540" /><Relationship Type="http://schemas.openxmlformats.org/officeDocument/2006/relationships/tableStyles" Target="/ppt/tableStyles.xml" Id="R7ca9144105244a32" /><Relationship Type="http://schemas.openxmlformats.org/officeDocument/2006/relationships/slide" Target="/ppt/slides/slide1.xml" Id="R889e67e590fc420d" /><Relationship Type="http://schemas.openxmlformats.org/officeDocument/2006/relationships/slide" Target="/ppt/slides/slide2.xml" Id="Re26b2e4e4ac74968" /><Relationship Type="http://schemas.openxmlformats.org/officeDocument/2006/relationships/slide" Target="/ppt/slides/slide3.xml" Id="R7600acda1f1d483b" /><Relationship Type="http://schemas.openxmlformats.org/officeDocument/2006/relationships/slide" Target="/ppt/slides/slide4.xml" Id="Rea40ac7185a1480b" /><Relationship Type="http://schemas.openxmlformats.org/officeDocument/2006/relationships/slide" Target="/ppt/slides/slide5.xml" Id="R10ec942133944d27" /><Relationship Type="http://schemas.openxmlformats.org/officeDocument/2006/relationships/slide" Target="/ppt/slides/slide6.xml" Id="R3ca0831b9419417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6d8d3e8a3564a3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3feb00ddf541e5" /><Relationship Type="http://schemas.openxmlformats.org/officeDocument/2006/relationships/notesMaster" Target="/ppt/notesMasters/notesMaster1.xml" Id="R2fb17a3cc7da47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ab095ca3ad54060" /><Relationship Type="http://schemas.openxmlformats.org/officeDocument/2006/relationships/notesMaster" Target="/ppt/notesMasters/notesMaster1.xml" Id="Rc0757b3a6f43417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543670d69c6445b" /><Relationship Type="http://schemas.openxmlformats.org/officeDocument/2006/relationships/notesMaster" Target="/ppt/notesMasters/notesMaster1.xml" Id="Rf54f142cb5ad4d2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1b08d39a07c4ff2" /><Relationship Type="http://schemas.openxmlformats.org/officeDocument/2006/relationships/notesMaster" Target="/ppt/notesMasters/notesMaster1.xml" Id="R0b5674950bd74476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adc32f087444219" /><Relationship Type="http://schemas.openxmlformats.org/officeDocument/2006/relationships/notesMaster" Target="/ppt/notesMasters/notesMaster1.xml" Id="R760998d5e3594fc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3b947809e184b53" /><Relationship Type="http://schemas.openxmlformats.org/officeDocument/2006/relationships/notesMaster" Target="/ppt/notesMasters/notesMaster1.xml" Id="Rc97576cd1867455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overview.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Original icon generated for this project: D:/GE_FR/GermanCourseAI/assets/app-final.png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This is a real screenshot captured from the packaged Windows executable.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screenshot: D:/GE_FR/GermanCourseAI/docs/presentation/assets/german-course-ai-screenshot.jpg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Learning engine and openly licensed resource catalog.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https://en.wikibooks.org/wiki/German</a:t>
            </a:r>
          </a:p>
          <a:p xmlns:a="http://schemas.openxmlformats.org/drawingml/2006/main">
            <a:r>
              <a:t>- https://tatoeba.org/en/downloads</a:t>
            </a:r>
          </a:p>
          <a:p xmlns:a="http://schemas.openxmlformats.org/drawingml/2006/main">
            <a:r>
              <a:t>- https://librivox.org/pages/about-librivox/</a:t>
            </a:r>
          </a:p>
          <a:p xmlns:a="http://schemas.openxmlformats.org/drawingml/2006/main">
            <a:r>
              <a:t>- https://www.gutenberg.org/policy/permission.html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German Course AI language-specific lab examples.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 seed data and tests in the local gca source tree.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optional AI path uses a local LM Studio endpoint. The token ledger stores usage metadata, not prompt or response 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Local application source: gca/ai.py and gca/db.py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Delivery summary based on the packaged executable and automated test suite.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German Course AI local build output</a:t>
            </a:r>
          </a:p>
          <a:p xmlns:a="http://schemas.openxmlformats.org/drawingml/2006/main">
            <a:r>
              <a:t>- German Course AI pytest results</a:t>
            </a:r>
          </a:p>
          <a:p xmlns:a="http://schemas.openxmlformats.org/drawingml/2006/main">
            <a:r>
              <a:t>- https://github.com/Azizsekerdil/GermanCourseAI/releases/tag/v1.1.2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98cac9b26b0426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09dc1355f247f3" /><Relationship Type="http://schemas.openxmlformats.org/officeDocument/2006/relationships/slideLayout" Target="/ppt/slideLayouts/slideLayout1.xml" Id="R3c7f7ed8b28a44c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c7f7ed8b28a44c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12002cfea14725" /><Relationship Type="http://schemas.openxmlformats.org/officeDocument/2006/relationships/image" Target="/ppt/media/image.png" Id="Rec844ba0b74b4431" /><Relationship Type="http://schemas.openxmlformats.org/officeDocument/2006/relationships/notesSlide" Target="/ppt/notesSlides/notesSlide1.xml" Id="Ra9229c811dc240f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493c836d984ad7" /><Relationship Type="http://schemas.openxmlformats.org/officeDocument/2006/relationships/image" Target="/ppt/media/image.jpeg" Id="R845ec1906a134e11" /><Relationship Type="http://schemas.openxmlformats.org/officeDocument/2006/relationships/notesSlide" Target="/ppt/notesSlides/notesSlide2.xml" Id="R8f2bb8699a6949d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0e1c2a01ee417b" /><Relationship Type="http://schemas.openxmlformats.org/officeDocument/2006/relationships/notesSlide" Target="/ppt/notesSlides/notesSlide3.xml" Id="R0a92df3f664441a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0e468ff5614786" /><Relationship Type="http://schemas.openxmlformats.org/officeDocument/2006/relationships/notesSlide" Target="/ppt/notesSlides/notesSlide4.xml" Id="R963b37e5f936467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f3816bd6ef4c8c" /><Relationship Type="http://schemas.openxmlformats.org/officeDocument/2006/relationships/notesSlide" Target="/ppt/notesSlides/notesSlide5.xml" Id="R65907497760b4a1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520101170d84136" /><Relationship Type="http://schemas.openxmlformats.org/officeDocument/2006/relationships/notesSlide" Target="/ppt/notesSlides/notesSlide6.xml" Id="R60b01a9a1d7c470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ox-1">
            <a:extLst xmlns:a="http://schemas.openxmlformats.org/drawingml/2006/main">
              <a:ext uri="{FF2B5EF4-FFF2-40B4-BE49-F238E27FC236}">
                <a16:creationId xmlns:a16="http://schemas.microsoft.com/office/drawing/2014/main" id="{ECB7ADD2-8B1F-47DE-8224-AC132D1EE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">
            <a:extLst xmlns:a="http://schemas.openxmlformats.org/drawingml/2006/main">
              <a:ext uri="{FF2B5EF4-FFF2-40B4-BE49-F238E27FC236}">
                <a16:creationId xmlns:a16="http://schemas.microsoft.com/office/drawing/2014/main" id="{7302CB64-73C2-44F1-BAB8-F99C4DDCF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3">
            <a:extLst xmlns:a="http://schemas.openxmlformats.org/drawingml/2006/main">
              <a:ext uri="{FF2B5EF4-FFF2-40B4-BE49-F238E27FC236}">
                <a16:creationId xmlns:a16="http://schemas.microsoft.com/office/drawing/2014/main" id="{889B231D-FBE1-4545-B20A-F67F301D0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01 / 06</a:t>
            </a:r>
          </a:p>
        </p:txBody>
      </p:sp>
      <p:sp>
        <p:nvSpPr>
          <p:cNvPr id="4" name="text-4">
            <a:extLst xmlns:a="http://schemas.openxmlformats.org/drawingml/2006/main">
              <a:ext uri="{FF2B5EF4-FFF2-40B4-BE49-F238E27FC236}">
                <a16:creationId xmlns:a16="http://schemas.microsoft.com/office/drawing/2014/main" id="{73D9CEFF-5718-499B-AB93-4489FF5A8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23900"/>
            <a:ext cx="7239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OFFLINE-FIRST WINDOWS LANGUAGE LEARNING</a:t>
            </a:r>
          </a:p>
        </p:txBody>
      </p:sp>
      <p:sp>
        <p:nvSpPr>
          <p:cNvPr id="5" name="text-5">
            <a:extLst xmlns:a="http://schemas.openxmlformats.org/drawingml/2006/main">
              <a:ext uri="{FF2B5EF4-FFF2-40B4-BE49-F238E27FC236}">
                <a16:creationId xmlns:a16="http://schemas.microsoft.com/office/drawing/2014/main" id="{DD0F733A-811C-4445-80A3-3B0559D204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19250"/>
            <a:ext cx="81915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5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6" name="text-6">
            <a:extLst xmlns:a="http://schemas.openxmlformats.org/drawingml/2006/main">
              <a:ext uri="{FF2B5EF4-FFF2-40B4-BE49-F238E27FC236}">
                <a16:creationId xmlns:a16="http://schemas.microsoft.com/office/drawing/2014/main" id="{4B1DA49E-102E-4079-BA37-08EB976BA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43200"/>
            <a:ext cx="7048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Türkçe · English · Deutsch</a:t>
            </a:r>
          </a:p>
        </p:txBody>
      </p:sp>
      <p:sp>
        <p:nvSpPr>
          <p:cNvPr id="7" name="text-7">
            <a:extLst xmlns:a="http://schemas.openxmlformats.org/drawingml/2006/main">
              <a:ext uri="{FF2B5EF4-FFF2-40B4-BE49-F238E27FC236}">
                <a16:creationId xmlns:a16="http://schemas.microsoft.com/office/drawing/2014/main" id="{E5129634-B8A2-4C16-9BC6-6C80A205C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191000"/>
            <a:ext cx="666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Yerel, ölçülebilir Almanca öğrenimi</a:t>
            </a:r>
          </a:p>
        </p:txBody>
      </p:sp>
      <p:sp>
        <p:nvSpPr>
          <p:cNvPr id="8" name="text-8">
            <a:extLst xmlns:a="http://schemas.openxmlformats.org/drawingml/2006/main">
              <a:ext uri="{FF2B5EF4-FFF2-40B4-BE49-F238E27FC236}">
                <a16:creationId xmlns:a16="http://schemas.microsoft.com/office/drawing/2014/main" id="{1E76E612-1DDA-41CA-8003-2A4767B50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9105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Local, measurable German learning</a:t>
            </a:r>
          </a:p>
        </p:txBody>
      </p:sp>
      <p:sp>
        <p:nvSpPr>
          <p:cNvPr id="9" name="text-9">
            <a:extLst xmlns:a="http://schemas.openxmlformats.org/drawingml/2006/main">
              <a:ext uri="{FF2B5EF4-FFF2-40B4-BE49-F238E27FC236}">
                <a16:creationId xmlns:a16="http://schemas.microsoft.com/office/drawing/2014/main" id="{8214512A-A2B3-40CB-9FE1-866BC6BB4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666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Lokales, messbares Deutschlernen</a:t>
            </a:r>
          </a:p>
        </p:txBody>
      </p:sp>
      <p:sp>
        <p:nvSpPr>
          <p:cNvPr id="10" name="box-10">
            <a:extLst xmlns:a="http://schemas.openxmlformats.org/drawingml/2006/main">
              <a:ext uri="{FF2B5EF4-FFF2-40B4-BE49-F238E27FC236}">
                <a16:creationId xmlns:a16="http://schemas.microsoft.com/office/drawing/2014/main" id="{C9DEF490-F080-4962-9DE0-EE9767FDC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1314450"/>
            <a:ext cx="2381250" cy="2381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19050">
            <a:solidFill>
              <a:srgbClr val="E8AE2E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c844ba0b74b4431"/>
          <a:stretch xmlns:a="http://schemas.openxmlformats.org/drawingml/2006/main"/>
        </p:blipFill>
        <p:spPr>
          <a:xfrm xmlns:a="http://schemas.openxmlformats.org/drawingml/2006/main">
            <a:off x="8963025" y="1552575"/>
            <a:ext cx="1905000" cy="1905000"/>
          </a:xfrm>
          <a:prstGeom xmlns:a="http://schemas.openxmlformats.org/drawingml/2006/main" prst="rect">
            <a:avLst/>
          </a:prstGeom>
        </p:spPr>
      </p:pic>
      <p:sp>
        <p:nvSpPr>
          <p:cNvPr id="12" name="text-11">
            <a:extLst xmlns:a="http://schemas.openxmlformats.org/drawingml/2006/main">
              <a:ext uri="{FF2B5EF4-FFF2-40B4-BE49-F238E27FC236}">
                <a16:creationId xmlns:a16="http://schemas.microsoft.com/office/drawing/2014/main" id="{E5D7A53A-5A22-44D5-897C-828333CED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005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x64 · macOS arm64</a:t>
            </a:r>
          </a:p>
        </p:txBody>
      </p:sp>
    </p:spTree>
    <p:extLst>
      <p:ext uri="{BB962C8B-B14F-4D97-AF65-F5344CB8AC3E}">
        <p14:creationId xmlns:p14="http://schemas.microsoft.com/office/powerpoint/2010/main" val="112989089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box-12">
            <a:extLst xmlns:a="http://schemas.openxmlformats.org/drawingml/2006/main">
              <a:ext uri="{FF2B5EF4-FFF2-40B4-BE49-F238E27FC236}">
                <a16:creationId xmlns:a16="http://schemas.microsoft.com/office/drawing/2014/main" id="{E33B1932-133A-44FA-A443-1A94B83B0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13">
            <a:extLst xmlns:a="http://schemas.openxmlformats.org/drawingml/2006/main">
              <a:ext uri="{FF2B5EF4-FFF2-40B4-BE49-F238E27FC236}">
                <a16:creationId xmlns:a16="http://schemas.microsoft.com/office/drawing/2014/main" id="{081B716C-93F6-4377-A73E-843664E9A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14">
            <a:extLst xmlns:a="http://schemas.openxmlformats.org/drawingml/2006/main">
              <a:ext uri="{FF2B5EF4-FFF2-40B4-BE49-F238E27FC236}">
                <a16:creationId xmlns:a16="http://schemas.microsoft.com/office/drawing/2014/main" id="{A138C5E1-9AAC-4BFE-9766-3C1F1D730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02 / 06</a:t>
            </a:r>
          </a:p>
        </p:txBody>
      </p:sp>
      <p:sp>
        <p:nvSpPr>
          <p:cNvPr id="4" name="text-15">
            <a:extLst xmlns:a="http://schemas.openxmlformats.org/drawingml/2006/main">
              <a:ext uri="{FF2B5EF4-FFF2-40B4-BE49-F238E27FC236}">
                <a16:creationId xmlns:a16="http://schemas.microsoft.com/office/drawing/2014/main" id="{E4DD800B-7EF2-4764-B050-D724F12D1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4095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Lernen ohne Reibung</a:t>
            </a:r>
          </a:p>
        </p:txBody>
      </p:sp>
      <p:sp>
        <p:nvSpPr>
          <p:cNvPr id="5" name="text-16">
            <a:extLst xmlns:a="http://schemas.openxmlformats.org/drawingml/2006/main">
              <a:ext uri="{FF2B5EF4-FFF2-40B4-BE49-F238E27FC236}">
                <a16:creationId xmlns:a16="http://schemas.microsoft.com/office/drawing/2014/main" id="{2CC35216-935A-4D9F-9AFB-2917AFAFE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8859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Tek uygulama, üç arayüz</a:t>
            </a:r>
          </a:p>
        </p:txBody>
      </p:sp>
      <p:sp>
        <p:nvSpPr>
          <p:cNvPr id="6" name="text-17">
            <a:extLst xmlns:a="http://schemas.openxmlformats.org/drawingml/2006/main">
              <a:ext uri="{FF2B5EF4-FFF2-40B4-BE49-F238E27FC236}">
                <a16:creationId xmlns:a16="http://schemas.microsoft.com/office/drawing/2014/main" id="{3D092DFA-2DA5-49C7-924E-819F7662B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0980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One app, three interfaces</a:t>
            </a:r>
          </a:p>
        </p:txBody>
      </p:sp>
      <p:sp>
        <p:nvSpPr>
          <p:cNvPr id="7" name="box-18">
            <a:extLst xmlns:a="http://schemas.openxmlformats.org/drawingml/2006/main">
              <a:ext uri="{FF2B5EF4-FFF2-40B4-BE49-F238E27FC236}">
                <a16:creationId xmlns:a16="http://schemas.microsoft.com/office/drawing/2014/main" id="{C9B1D16F-C3CE-4366-8A14-BD9954A2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09850"/>
            <a:ext cx="3600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8" name="text-19">
            <a:extLst xmlns:a="http://schemas.openxmlformats.org/drawingml/2006/main">
              <a:ext uri="{FF2B5EF4-FFF2-40B4-BE49-F238E27FC236}">
                <a16:creationId xmlns:a16="http://schemas.microsoft.com/office/drawing/2014/main" id="{1326D86C-5987-45BF-85DB-B099D3FA8F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914650"/>
            <a:ext cx="3810000" cy="1276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11111"/>
                </a:solidFill>
                <a:latin typeface="Arial"/>
                <a:ea typeface="Arial"/>
                <a:cs typeface="Arial"/>
              </a:rPr>
              <a:t>18 Bereiche verbinden Wiederholung, Wortschatz, ein zweisprachiges Wörterbuch DE-EN, Prüfung, Grammatik und Praxis in einem ruhigen Windows-Arbeitsraum.</a:t>
            </a:r>
          </a:p>
        </p:txBody>
      </p:sp>
      <p:sp>
        <p:nvSpPr>
          <p:cNvPr id="9" name="text-20">
            <a:extLst xmlns:a="http://schemas.openxmlformats.org/drawingml/2006/main">
              <a:ext uri="{FF2B5EF4-FFF2-40B4-BE49-F238E27FC236}">
                <a16:creationId xmlns:a16="http://schemas.microsoft.com/office/drawing/2014/main" id="{7D9643C4-81B4-40F6-9F9A-457DF4049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Dil seçimi anında kaydedilir; uygulama çevrimdışı çalışmaya devam eder.</a:t>
            </a:r>
          </a:p>
        </p:txBody>
      </p:sp>
      <p:sp>
        <p:nvSpPr>
          <p:cNvPr id="10" name="text-21">
            <a:extLst xmlns:a="http://schemas.openxmlformats.org/drawingml/2006/main">
              <a:ext uri="{FF2B5EF4-FFF2-40B4-BE49-F238E27FC236}">
                <a16:creationId xmlns:a16="http://schemas.microsoft.com/office/drawing/2014/main" id="{144CE648-4A8F-48F7-AA8E-760E4F666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219700"/>
            <a:ext cx="3810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The language choice persists instantly, and core learning stays available offline.</a:t>
            </a:r>
          </a:p>
        </p:txBody>
      </p:sp>
      <p:sp>
        <p:nvSpPr>
          <p:cNvPr id="11" name="box-22">
            <a:extLst xmlns:a="http://schemas.openxmlformats.org/drawingml/2006/main">
              <a:ext uri="{FF2B5EF4-FFF2-40B4-BE49-F238E27FC236}">
                <a16:creationId xmlns:a16="http://schemas.microsoft.com/office/drawing/2014/main" id="{C0D7AFB1-EF15-4B1C-B8EE-235D40796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876300"/>
            <a:ext cx="7277100" cy="495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9525">
            <a:solidFill>
              <a:srgbClr val="B8BCC4"/>
            </a:solidFill>
            <a:prstDash val="solid"/>
          </a:ln>
        </p:spPr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45ec1906a134e11"/>
          <a:stretch xmlns:a="http://schemas.openxmlformats.org/drawingml/2006/main"/>
        </p:blipFill>
        <p:spPr>
          <a:xfrm xmlns:a="http://schemas.openxmlformats.org/drawingml/2006/main">
            <a:off x="4692997" y="1047750"/>
            <a:ext cx="6920805" cy="4533900"/>
          </a:xfrm>
          <a:prstGeom xmlns:a="http://schemas.openxmlformats.org/drawingml/2006/main" prst="rect">
            <a:avLst/>
          </a:prstGeom>
        </p:spPr>
      </p:pic>
      <p:sp>
        <p:nvSpPr>
          <p:cNvPr id="13" name="text-23">
            <a:extLst xmlns:a="http://schemas.openxmlformats.org/drawingml/2006/main">
              <a:ext uri="{FF2B5EF4-FFF2-40B4-BE49-F238E27FC236}">
                <a16:creationId xmlns:a16="http://schemas.microsoft.com/office/drawing/2014/main" id="{D42E335C-03E4-4397-BD70-A64862D36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5924550"/>
            <a:ext cx="6934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1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Gerçek EXE ekranı · Real executable · Echte Anwendung</a:t>
            </a:r>
          </a:p>
        </p:txBody>
      </p:sp>
    </p:spTree>
    <p:extLst>
      <p:ext uri="{BB962C8B-B14F-4D97-AF65-F5344CB8AC3E}">
        <p14:creationId xmlns:p14="http://schemas.microsoft.com/office/powerpoint/2010/main" val="161094735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box-24">
            <a:extLst xmlns:a="http://schemas.openxmlformats.org/drawingml/2006/main">
              <a:ext uri="{FF2B5EF4-FFF2-40B4-BE49-F238E27FC236}">
                <a16:creationId xmlns:a16="http://schemas.microsoft.com/office/drawing/2014/main" id="{A88D0937-249F-4209-91C4-D2134C584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25">
            <a:extLst xmlns:a="http://schemas.openxmlformats.org/drawingml/2006/main">
              <a:ext uri="{FF2B5EF4-FFF2-40B4-BE49-F238E27FC236}">
                <a16:creationId xmlns:a16="http://schemas.microsoft.com/office/drawing/2014/main" id="{B453089A-B537-4CA7-AA7C-DA7E64A02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26">
            <a:extLst xmlns:a="http://schemas.openxmlformats.org/drawingml/2006/main">
              <a:ext uri="{FF2B5EF4-FFF2-40B4-BE49-F238E27FC236}">
                <a16:creationId xmlns:a16="http://schemas.microsoft.com/office/drawing/2014/main" id="{E701F1F3-90D8-4CDB-9646-031231630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03 / 06</a:t>
            </a:r>
          </a:p>
        </p:txBody>
      </p:sp>
      <p:sp>
        <p:nvSpPr>
          <p:cNvPr id="4" name="text-27">
            <a:extLst xmlns:a="http://schemas.openxmlformats.org/drawingml/2006/main">
              <a:ext uri="{FF2B5EF4-FFF2-40B4-BE49-F238E27FC236}">
                <a16:creationId xmlns:a16="http://schemas.microsoft.com/office/drawing/2014/main" id="{851F0671-2547-49EB-94C7-CE47DB92C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047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 learning engine that remembers</a:t>
            </a:r>
          </a:p>
        </p:txBody>
      </p:sp>
      <p:sp>
        <p:nvSpPr>
          <p:cNvPr id="5" name="text-28">
            <a:extLst xmlns:a="http://schemas.openxmlformats.org/drawingml/2006/main">
              <a:ext uri="{FF2B5EF4-FFF2-40B4-BE49-F238E27FC236}">
                <a16:creationId xmlns:a16="http://schemas.microsoft.com/office/drawing/2014/main" id="{39F4B3FC-A084-4218-BFF3-E7793807F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motoru hatırlar · Die Lernmaschine merkt sich den Fortschritt</a:t>
            </a:r>
          </a:p>
        </p:txBody>
      </p:sp>
      <p:sp>
        <p:nvSpPr>
          <p:cNvPr id="6" name="text-29">
            <a:extLst xmlns:a="http://schemas.openxmlformats.org/drawingml/2006/main">
              <a:ext uri="{FF2B5EF4-FFF2-40B4-BE49-F238E27FC236}">
                <a16:creationId xmlns:a16="http://schemas.microsoft.com/office/drawing/2014/main" id="{402AFB21-D954-4E51-8B0E-98DADA9C0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TÜRKÇE</a:t>
            </a:r>
          </a:p>
        </p:txBody>
      </p:sp>
      <p:sp>
        <p:nvSpPr>
          <p:cNvPr id="7" name="box-30">
            <a:extLst xmlns:a="http://schemas.openxmlformats.org/drawingml/2006/main">
              <a:ext uri="{FF2B5EF4-FFF2-40B4-BE49-F238E27FC236}">
                <a16:creationId xmlns:a16="http://schemas.microsoft.com/office/drawing/2014/main" id="{4711F673-DC15-47B8-8069-9D742E3EC8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8" name="text-31">
            <a:extLst xmlns:a="http://schemas.openxmlformats.org/drawingml/2006/main">
              <a:ext uri="{FF2B5EF4-FFF2-40B4-BE49-F238E27FC236}">
                <a16:creationId xmlns:a16="http://schemas.microsoft.com/office/drawing/2014/main" id="{4C0FB158-D765-4B02-8D90-466B3767D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Her gün doğru sıra</a:t>
            </a:r>
          </a:p>
        </p:txBody>
      </p:sp>
      <p:sp>
        <p:nvSpPr>
          <p:cNvPr id="9" name="text-32">
            <a:extLst xmlns:a="http://schemas.openxmlformats.org/drawingml/2006/main">
              <a:ext uri="{FF2B5EF4-FFF2-40B4-BE49-F238E27FC236}">
                <a16:creationId xmlns:a16="http://schemas.microsoft.com/office/drawing/2014/main" id="{0719875C-0CA0-4036-BB23-AA0D46C8A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SM-2 ve Leitner, yeni ve gecikmiş kartları günlük bir sıraya dönüştürür.</a:t>
            </a:r>
          </a:p>
        </p:txBody>
      </p:sp>
      <p:sp>
        <p:nvSpPr>
          <p:cNvPr id="10" name="text-33">
            <a:extLst xmlns:a="http://schemas.openxmlformats.org/drawingml/2006/main">
              <a:ext uri="{FF2B5EF4-FFF2-40B4-BE49-F238E27FC236}">
                <a16:creationId xmlns:a16="http://schemas.microsoft.com/office/drawing/2014/main" id="{2EC1ECA7-3964-443B-825F-03345539A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ENGLISH</a:t>
            </a:r>
          </a:p>
        </p:txBody>
      </p:sp>
      <p:sp>
        <p:nvSpPr>
          <p:cNvPr id="11" name="box-34">
            <a:extLst xmlns:a="http://schemas.openxmlformats.org/drawingml/2006/main">
              <a:ext uri="{FF2B5EF4-FFF2-40B4-BE49-F238E27FC236}">
                <a16:creationId xmlns:a16="http://schemas.microsoft.com/office/drawing/2014/main" id="{E328E655-E96E-47D7-B280-49E0331E3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2" name="text-35">
            <a:extLst xmlns:a="http://schemas.openxmlformats.org/drawingml/2006/main">
              <a:ext uri="{FF2B5EF4-FFF2-40B4-BE49-F238E27FC236}">
                <a16:creationId xmlns:a16="http://schemas.microsoft.com/office/drawing/2014/main" id="{4D7E0A45-221A-4295-A139-5518B22247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Practice with evidence</a:t>
            </a:r>
          </a:p>
        </p:txBody>
      </p:sp>
      <p:sp>
        <p:nvSpPr>
          <p:cNvPr id="13" name="text-36">
            <a:extLst xmlns:a="http://schemas.openxmlformats.org/drawingml/2006/main">
              <a:ext uri="{FF2B5EF4-FFF2-40B4-BE49-F238E27FC236}">
                <a16:creationId xmlns:a16="http://schemas.microsoft.com/office/drawing/2014/main" id="{63B6A9F0-FAC0-49C9-A1A0-DB67373BA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160 A1 entries, a 1,260-entry DE-EN dictionary, strict spelling, exams, favorites and mistakes share one SQLite record.</a:t>
            </a:r>
          </a:p>
        </p:txBody>
      </p:sp>
      <p:sp>
        <p:nvSpPr>
          <p:cNvPr id="14" name="text-37">
            <a:extLst xmlns:a="http://schemas.openxmlformats.org/drawingml/2006/main">
              <a:ext uri="{FF2B5EF4-FFF2-40B4-BE49-F238E27FC236}">
                <a16:creationId xmlns:a16="http://schemas.microsoft.com/office/drawing/2014/main" id="{54E79D31-6555-47D1-8E36-5033140A0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4574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DEUTSCH</a:t>
            </a:r>
          </a:p>
        </p:txBody>
      </p:sp>
      <p:sp>
        <p:nvSpPr>
          <p:cNvPr id="15" name="box-38">
            <a:extLst xmlns:a="http://schemas.openxmlformats.org/drawingml/2006/main">
              <a:ext uri="{FF2B5EF4-FFF2-40B4-BE49-F238E27FC236}">
                <a16:creationId xmlns:a16="http://schemas.microsoft.com/office/drawing/2014/main" id="{A390B7DF-C245-4074-8A4D-8E8C64544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895600"/>
            <a:ext cx="3143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16" name="text-39">
            <a:extLst xmlns:a="http://schemas.openxmlformats.org/drawingml/2006/main">
              <a:ext uri="{FF2B5EF4-FFF2-40B4-BE49-F238E27FC236}">
                <a16:creationId xmlns:a16="http://schemas.microsoft.com/office/drawing/2014/main" id="{1F7A5F40-BAF3-4F18-98A6-3568D3EA3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181350"/>
            <a:ext cx="3143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Fortschritt bleibt lokal</a:t>
            </a:r>
          </a:p>
        </p:txBody>
      </p:sp>
      <p:sp>
        <p:nvSpPr>
          <p:cNvPr id="17" name="text-40">
            <a:extLst xmlns:a="http://schemas.openxmlformats.org/drawingml/2006/main">
              <a:ext uri="{FF2B5EF4-FFF2-40B4-BE49-F238E27FC236}">
                <a16:creationId xmlns:a16="http://schemas.microsoft.com/office/drawing/2014/main" id="{7853B88D-B678-4ED1-9260-02945E077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62400"/>
            <a:ext cx="3143250" cy="1409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Wiederholung, Fehler, Favoriten und Prüfungen werden lokal und nachvollziehbar gespeichert.</a:t>
            </a:r>
          </a:p>
        </p:txBody>
      </p:sp>
      <p:sp>
        <p:nvSpPr>
          <p:cNvPr id="18" name="text-41">
            <a:extLst xmlns:a="http://schemas.openxmlformats.org/drawingml/2006/main">
              <a:ext uri="{FF2B5EF4-FFF2-40B4-BE49-F238E27FC236}">
                <a16:creationId xmlns:a16="http://schemas.microsoft.com/office/drawing/2014/main" id="{7E05DE00-113F-4F39-BBBA-3D1BA1627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8674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Kaynak kataloğu / resource catalog / Quellenkatalog: Wikibooks · Tatoeba · LibriVox · Project Gutenberg</a:t>
            </a:r>
          </a:p>
        </p:txBody>
      </p:sp>
    </p:spTree>
    <p:extLst>
      <p:ext uri="{BB962C8B-B14F-4D97-AF65-F5344CB8AC3E}">
        <p14:creationId xmlns:p14="http://schemas.microsoft.com/office/powerpoint/2010/main" val="172809357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42">
            <a:extLst xmlns:a="http://schemas.openxmlformats.org/drawingml/2006/main">
              <a:ext uri="{FF2B5EF4-FFF2-40B4-BE49-F238E27FC236}">
                <a16:creationId xmlns:a16="http://schemas.microsoft.com/office/drawing/2014/main" id="{09FD2316-D4D8-48EE-9483-A3C65DD6F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43">
            <a:extLst xmlns:a="http://schemas.openxmlformats.org/drawingml/2006/main">
              <a:ext uri="{FF2B5EF4-FFF2-40B4-BE49-F238E27FC236}">
                <a16:creationId xmlns:a16="http://schemas.microsoft.com/office/drawing/2014/main" id="{B8D6BB38-8EF8-403C-89A6-2BA649AF61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44">
            <a:extLst xmlns:a="http://schemas.openxmlformats.org/drawingml/2006/main">
              <a:ext uri="{FF2B5EF4-FFF2-40B4-BE49-F238E27FC236}">
                <a16:creationId xmlns:a16="http://schemas.microsoft.com/office/drawing/2014/main" id="{AF3A3A66-3E2E-4458-9548-98232CFFF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04 / 06</a:t>
            </a:r>
          </a:p>
        </p:txBody>
      </p:sp>
      <p:sp>
        <p:nvSpPr>
          <p:cNvPr id="4" name="text-45">
            <a:extLst xmlns:a="http://schemas.openxmlformats.org/drawingml/2006/main">
              <a:ext uri="{FF2B5EF4-FFF2-40B4-BE49-F238E27FC236}">
                <a16:creationId xmlns:a16="http://schemas.microsoft.com/office/drawing/2014/main" id="{6D7DA84B-3ADB-4D77-BE93-3DB1739AA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9906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Deutsch verdient präzise Werkzeuge</a:t>
            </a:r>
          </a:p>
        </p:txBody>
      </p:sp>
      <p:sp>
        <p:nvSpPr>
          <p:cNvPr id="5" name="text-46">
            <a:extLst xmlns:a="http://schemas.openxmlformats.org/drawingml/2006/main">
              <a:ext uri="{FF2B5EF4-FFF2-40B4-BE49-F238E27FC236}">
                <a16:creationId xmlns:a16="http://schemas.microsoft.com/office/drawing/2014/main" id="{1EBA72E3-09B7-40BE-9906-911293D8AC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Almancaya özgü laboratuvar  ·  A German-specific language lab</a:t>
            </a:r>
          </a:p>
        </p:txBody>
      </p:sp>
      <p:sp>
        <p:nvSpPr>
          <p:cNvPr id="6" name="box-47">
            <a:extLst xmlns:a="http://schemas.openxmlformats.org/drawingml/2006/main">
              <a:ext uri="{FF2B5EF4-FFF2-40B4-BE49-F238E27FC236}">
                <a16:creationId xmlns:a16="http://schemas.microsoft.com/office/drawing/2014/main" id="{758E1A76-D95E-4ECC-83FA-32D184AD4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7" name="text-48">
            <a:extLst xmlns:a="http://schemas.openxmlformats.org/drawingml/2006/main">
              <a:ext uri="{FF2B5EF4-FFF2-40B4-BE49-F238E27FC236}">
                <a16:creationId xmlns:a16="http://schemas.microsoft.com/office/drawing/2014/main" id="{9A22E521-0E89-40B1-A9B3-CFF3D5B23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der Tisch · die Tische</a:t>
            </a:r>
          </a:p>
        </p:txBody>
      </p:sp>
      <p:sp>
        <p:nvSpPr>
          <p:cNvPr id="8" name="text-49">
            <a:extLst xmlns:a="http://schemas.openxmlformats.org/drawingml/2006/main">
              <a:ext uri="{FF2B5EF4-FFF2-40B4-BE49-F238E27FC236}">
                <a16:creationId xmlns:a16="http://schemas.microsoft.com/office/drawing/2014/main" id="{301045D3-6FE6-4269-8236-4FE9BB3D8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Artikel + çoğul birlikte · article and plural together · Artikel und Plural zusammen</a:t>
            </a:r>
          </a:p>
        </p:txBody>
      </p:sp>
      <p:sp>
        <p:nvSpPr>
          <p:cNvPr id="9" name="box-50">
            <a:extLst xmlns:a="http://schemas.openxmlformats.org/drawingml/2006/main">
              <a:ext uri="{FF2B5EF4-FFF2-40B4-BE49-F238E27FC236}">
                <a16:creationId xmlns:a16="http://schemas.microsoft.com/office/drawing/2014/main" id="{B4430621-3A8E-467B-84A8-A5F0AB25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288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0" name="text-51">
            <a:extLst xmlns:a="http://schemas.openxmlformats.org/drawingml/2006/main">
              <a:ext uri="{FF2B5EF4-FFF2-40B4-BE49-F238E27FC236}">
                <a16:creationId xmlns:a16="http://schemas.microsoft.com/office/drawing/2014/main" id="{A12E063A-A877-4757-956C-2D00C8FD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4384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ä · ö · ü</a:t>
            </a:r>
          </a:p>
        </p:txBody>
      </p:sp>
      <p:sp>
        <p:nvSpPr>
          <p:cNvPr id="11" name="text-52">
            <a:extLst xmlns:a="http://schemas.openxmlformats.org/drawingml/2006/main">
              <a:ext uri="{FF2B5EF4-FFF2-40B4-BE49-F238E27FC236}">
                <a16:creationId xmlns:a16="http://schemas.microsoft.com/office/drawing/2014/main" id="{7E52C945-CE90-45BF-9B56-9AFF28055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61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Umlaut araması kontrollü · controlled umlaut search · kontrollierte Umlautsuche</a:t>
            </a:r>
          </a:p>
        </p:txBody>
      </p:sp>
      <p:sp>
        <p:nvSpPr>
          <p:cNvPr id="12" name="box-53">
            <a:extLst xmlns:a="http://schemas.openxmlformats.org/drawingml/2006/main">
              <a:ext uri="{FF2B5EF4-FFF2-40B4-BE49-F238E27FC236}">
                <a16:creationId xmlns:a16="http://schemas.microsoft.com/office/drawing/2014/main" id="{6846920C-6EDC-417C-BA64-C617D3795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3" name="text-54">
            <a:extLst xmlns:a="http://schemas.openxmlformats.org/drawingml/2006/main">
              <a:ext uri="{FF2B5EF4-FFF2-40B4-BE49-F238E27FC236}">
                <a16:creationId xmlns:a16="http://schemas.microsoft.com/office/drawing/2014/main" id="{40E592CB-854B-4271-A240-BC9AAAA74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Straße · Grüße</a:t>
            </a:r>
          </a:p>
        </p:txBody>
      </p:sp>
      <p:sp>
        <p:nvSpPr>
          <p:cNvPr id="14" name="text-55">
            <a:extLst xmlns:a="http://schemas.openxmlformats.org/drawingml/2006/main">
              <a:ext uri="{FF2B5EF4-FFF2-40B4-BE49-F238E27FC236}">
                <a16:creationId xmlns:a16="http://schemas.microsoft.com/office/drawing/2014/main" id="{94AA6685-E4B5-4D24-8480-708D59BE0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ß aramada esnek, yanıtta kesin · flexible search, strict answer · flexible Suche, genaue Antwort</a:t>
            </a:r>
          </a:p>
        </p:txBody>
      </p:sp>
      <p:sp>
        <p:nvSpPr>
          <p:cNvPr id="15" name="box-56">
            <a:extLst xmlns:a="http://schemas.openxmlformats.org/drawingml/2006/main">
              <a:ext uri="{FF2B5EF4-FFF2-40B4-BE49-F238E27FC236}">
                <a16:creationId xmlns:a16="http://schemas.microsoft.com/office/drawing/2014/main" id="{B07F4D49-F0B1-4675-A75F-25DC6158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095750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BCC4"/>
          </a:solidFill>
          <a:ln xmlns:a="http://schemas.openxmlformats.org/drawingml/2006/main" w="0">
            <a:solidFill>
              <a:srgbClr val="B8BCC4"/>
            </a:solidFill>
            <a:prstDash val="solid"/>
          </a:ln>
        </p:spPr>
      </p:sp>
      <p:sp>
        <p:nvSpPr>
          <p:cNvPr id="16" name="text-57">
            <a:extLst xmlns:a="http://schemas.openxmlformats.org/drawingml/2006/main">
              <a:ext uri="{FF2B5EF4-FFF2-40B4-BE49-F238E27FC236}">
                <a16:creationId xmlns:a16="http://schemas.microsoft.com/office/drawing/2014/main" id="{1C24CC5D-A433-4471-B361-ABA6C30AEB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05300"/>
            <a:ext cx="5143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Häuser → das Haus</a:t>
            </a:r>
          </a:p>
        </p:txBody>
      </p:sp>
      <p:sp>
        <p:nvSpPr>
          <p:cNvPr id="17" name="text-58">
            <a:extLst xmlns:a="http://schemas.openxmlformats.org/drawingml/2006/main">
              <a:ext uri="{FF2B5EF4-FFF2-40B4-BE49-F238E27FC236}">
                <a16:creationId xmlns:a16="http://schemas.microsoft.com/office/drawing/2014/main" id="{3616D272-1819-4750-8F91-75E1E30FA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53000"/>
            <a:ext cx="4953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Sözlük çoğuldan tekili bulur · dictionary resolves plurals · Wörterbuch findet den Singular</a:t>
            </a:r>
          </a:p>
        </p:txBody>
      </p:sp>
    </p:spTree>
    <p:extLst>
      <p:ext uri="{BB962C8B-B14F-4D97-AF65-F5344CB8AC3E}">
        <p14:creationId xmlns:p14="http://schemas.microsoft.com/office/powerpoint/2010/main" val="187587707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box-59">
            <a:extLst xmlns:a="http://schemas.openxmlformats.org/drawingml/2006/main">
              <a:ext uri="{FF2B5EF4-FFF2-40B4-BE49-F238E27FC236}">
                <a16:creationId xmlns:a16="http://schemas.microsoft.com/office/drawing/2014/main" id="{B030CE66-1C18-445D-9C1B-D8172376F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60">
            <a:extLst xmlns:a="http://schemas.openxmlformats.org/drawingml/2006/main">
              <a:ext uri="{FF2B5EF4-FFF2-40B4-BE49-F238E27FC236}">
                <a16:creationId xmlns:a16="http://schemas.microsoft.com/office/drawing/2014/main" id="{0F30FB06-E096-4D72-9812-29DCBF62D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85750"/>
            <a:ext cx="4476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GERMAN COURSE AI</a:t>
            </a:r>
          </a:p>
        </p:txBody>
      </p:sp>
      <p:sp>
        <p:nvSpPr>
          <p:cNvPr id="3" name="text-61">
            <a:extLst xmlns:a="http://schemas.openxmlformats.org/drawingml/2006/main">
              <a:ext uri="{FF2B5EF4-FFF2-40B4-BE49-F238E27FC236}">
                <a16:creationId xmlns:a16="http://schemas.microsoft.com/office/drawing/2014/main" id="{C15DEB1D-CEA1-44A1-B8BA-23AB0F837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285750"/>
            <a:ext cx="7429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05 / 06</a:t>
            </a:r>
          </a:p>
        </p:txBody>
      </p:sp>
      <p:sp>
        <p:nvSpPr>
          <p:cNvPr id="4" name="text-62">
            <a:extLst xmlns:a="http://schemas.openxmlformats.org/drawingml/2006/main">
              <a:ext uri="{FF2B5EF4-FFF2-40B4-BE49-F238E27FC236}">
                <a16:creationId xmlns:a16="http://schemas.microsoft.com/office/drawing/2014/main" id="{59EABAB4-753B-4F62-91EB-5197D5D1E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781050"/>
            <a:ext cx="11049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AI isteğe bağlı; mahremiyet varsayılan</a:t>
            </a:r>
          </a:p>
        </p:txBody>
      </p:sp>
      <p:sp>
        <p:nvSpPr>
          <p:cNvPr id="5" name="text-63">
            <a:extLst xmlns:a="http://schemas.openxmlformats.org/drawingml/2006/main">
              <a:ext uri="{FF2B5EF4-FFF2-40B4-BE49-F238E27FC236}">
                <a16:creationId xmlns:a16="http://schemas.microsoft.com/office/drawing/2014/main" id="{FFCDD576-C7B9-49D9-965F-B7703F359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4287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AI is optional; privacy is the default  ·  KI ist optional; Datenschutz ist Standard</a:t>
            </a:r>
          </a:p>
        </p:txBody>
      </p:sp>
      <p:sp>
        <p:nvSpPr>
          <p:cNvPr id="6" name="box-64">
            <a:extLst xmlns:a="http://schemas.openxmlformats.org/drawingml/2006/main">
              <a:ext uri="{FF2B5EF4-FFF2-40B4-BE49-F238E27FC236}">
                <a16:creationId xmlns:a16="http://schemas.microsoft.com/office/drawing/2014/main" id="{8617E585-5652-473B-9ADA-F4A05578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14700"/>
            <a:ext cx="10001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solidFill>
              <a:srgbClr val="111111"/>
            </a:solidFill>
            <a:prstDash val="solid"/>
          </a:ln>
        </p:spPr>
      </p:sp>
      <p:sp>
        <p:nvSpPr>
          <p:cNvPr id="7" name="dot-65">
            <a:extLst xmlns:a="http://schemas.openxmlformats.org/drawingml/2006/main">
              <a:ext uri="{FF2B5EF4-FFF2-40B4-BE49-F238E27FC236}">
                <a16:creationId xmlns:a16="http://schemas.microsoft.com/office/drawing/2014/main" id="{DD64BE3C-76AD-4F7E-89F1-CDB9E3193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66">
            <a:extLst xmlns:a="http://schemas.openxmlformats.org/drawingml/2006/main">
              <a:ext uri="{FF2B5EF4-FFF2-40B4-BE49-F238E27FC236}">
                <a16:creationId xmlns:a16="http://schemas.microsoft.com/office/drawing/2014/main" id="{6508250D-36B4-4F33-B406-E5649C387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01 · CONTEXT</a:t>
            </a:r>
          </a:p>
        </p:txBody>
      </p:sp>
      <p:sp>
        <p:nvSpPr>
          <p:cNvPr id="9" name="text-67">
            <a:extLst xmlns:a="http://schemas.openxmlformats.org/drawingml/2006/main">
              <a:ext uri="{FF2B5EF4-FFF2-40B4-BE49-F238E27FC236}">
                <a16:creationId xmlns:a16="http://schemas.microsoft.com/office/drawing/2014/main" id="{F0C12B2F-ECA6-4453-99C2-BB150A18B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Öğrenci bağlamı</a:t>
            </a:r>
          </a:p>
        </p:txBody>
      </p:sp>
      <p:sp>
        <p:nvSpPr>
          <p:cNvPr id="10" name="text-68">
            <a:extLst xmlns:a="http://schemas.openxmlformats.org/drawingml/2006/main">
              <a:ext uri="{FF2B5EF4-FFF2-40B4-BE49-F238E27FC236}">
                <a16:creationId xmlns:a16="http://schemas.microsoft.com/office/drawing/2014/main" id="{CE4796E1-8CAC-4EC9-975B-022AF295A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Seviye, hedef ve etkin çalışma uygulama içinde derlenir.</a:t>
            </a:r>
          </a:p>
        </p:txBody>
      </p:sp>
      <p:sp>
        <p:nvSpPr>
          <p:cNvPr id="11" name="dot-69">
            <a:extLst xmlns:a="http://schemas.openxmlformats.org/drawingml/2006/main">
              <a:ext uri="{FF2B5EF4-FFF2-40B4-BE49-F238E27FC236}">
                <a16:creationId xmlns:a16="http://schemas.microsoft.com/office/drawing/2014/main" id="{0EBFDE20-1E68-4AA7-9FDC-5083FFE15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70">
            <a:extLst xmlns:a="http://schemas.openxmlformats.org/drawingml/2006/main">
              <a:ext uri="{FF2B5EF4-FFF2-40B4-BE49-F238E27FC236}">
                <a16:creationId xmlns:a16="http://schemas.microsoft.com/office/drawing/2014/main" id="{F0CBBF78-733E-4507-B3D9-A9F3B428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02 · LOCAL MODEL</a:t>
            </a:r>
          </a:p>
        </p:txBody>
      </p:sp>
      <p:sp>
        <p:nvSpPr>
          <p:cNvPr id="13" name="text-71">
            <a:extLst xmlns:a="http://schemas.openxmlformats.org/drawingml/2006/main">
              <a:ext uri="{FF2B5EF4-FFF2-40B4-BE49-F238E27FC236}">
                <a16:creationId xmlns:a16="http://schemas.microsoft.com/office/drawing/2014/main" id="{6D63AE65-4B38-4BA6-8B0E-BC3D8FC41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LM Studio / alt. uç</a:t>
            </a:r>
          </a:p>
        </p:txBody>
      </p:sp>
      <p:sp>
        <p:nvSpPr>
          <p:cNvPr id="14" name="text-72">
            <a:extLst xmlns:a="http://schemas.openxmlformats.org/drawingml/2006/main">
              <a:ext uri="{FF2B5EF4-FFF2-40B4-BE49-F238E27FC236}">
                <a16:creationId xmlns:a16="http://schemas.microsoft.com/office/drawing/2014/main" id="{8B6AFCC9-3642-426C-8B67-20C5B042E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Önce yerel LM Studio; isteğe bağlı NVIDIA NIM veya özel OpenAI uyumlu uç. API anahtarı diske yazılmaz.</a:t>
            </a:r>
          </a:p>
        </p:txBody>
      </p:sp>
      <p:sp>
        <p:nvSpPr>
          <p:cNvPr id="15" name="dot-73">
            <a:extLst xmlns:a="http://schemas.openxmlformats.org/drawingml/2006/main">
              <a:ext uri="{FF2B5EF4-FFF2-40B4-BE49-F238E27FC236}">
                <a16:creationId xmlns:a16="http://schemas.microsoft.com/office/drawing/2014/main" id="{523BE894-F557-4105-ADB1-DB297951A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2099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1111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74">
            <a:extLst xmlns:a="http://schemas.openxmlformats.org/drawingml/2006/main">
              <a:ext uri="{FF2B5EF4-FFF2-40B4-BE49-F238E27FC236}">
                <a16:creationId xmlns:a16="http://schemas.microsoft.com/office/drawing/2014/main" id="{C58E37E3-3BE3-4C5A-84CD-7D823ED93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7813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03 · RECORD</a:t>
            </a:r>
          </a:p>
        </p:txBody>
      </p:sp>
      <p:sp>
        <p:nvSpPr>
          <p:cNvPr id="17" name="text-75">
            <a:extLst xmlns:a="http://schemas.openxmlformats.org/drawingml/2006/main">
              <a:ext uri="{FF2B5EF4-FFF2-40B4-BE49-F238E27FC236}">
                <a16:creationId xmlns:a16="http://schemas.microsoft.com/office/drawing/2014/main" id="{77D50507-F297-47C0-9241-7A97D5D2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3695700"/>
            <a:ext cx="2571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Güvenli kayıt</a:t>
            </a:r>
          </a:p>
        </p:txBody>
      </p:sp>
      <p:sp>
        <p:nvSpPr>
          <p:cNvPr id="18" name="text-76">
            <a:extLst xmlns:a="http://schemas.openxmlformats.org/drawingml/2006/main">
              <a:ext uri="{FF2B5EF4-FFF2-40B4-BE49-F238E27FC236}">
                <a16:creationId xmlns:a16="http://schemas.microsoft.com/office/drawing/2014/main" id="{083F3DC4-F88A-40A3-855C-0061AD311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4381500"/>
            <a:ext cx="2667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Yalnızca süre, token sayısı ve durum tutulur; konuşma metni tutulmaz.</a:t>
            </a:r>
          </a:p>
        </p:txBody>
      </p:sp>
      <p:sp>
        <p:nvSpPr>
          <p:cNvPr id="19" name="box-77">
            <a:extLst xmlns:a="http://schemas.openxmlformats.org/drawingml/2006/main">
              <a:ext uri="{FF2B5EF4-FFF2-40B4-BE49-F238E27FC236}">
                <a16:creationId xmlns:a16="http://schemas.microsoft.com/office/drawing/2014/main" id="{EE833D58-1CC4-4D00-835E-88A42DC44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72150"/>
            <a:ext cx="106680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3CF"/>
          </a:solidFill>
          <a:ln xmlns:a="http://schemas.openxmlformats.org/drawingml/2006/main" w="0">
            <a:solidFill>
              <a:srgbClr val="FFF3CF"/>
            </a:solidFill>
            <a:prstDash val="solid"/>
          </a:ln>
        </p:spPr>
      </p:sp>
      <p:sp>
        <p:nvSpPr>
          <p:cNvPr id="20" name="text-78">
            <a:extLst xmlns:a="http://schemas.openxmlformats.org/drawingml/2006/main">
              <a:ext uri="{FF2B5EF4-FFF2-40B4-BE49-F238E27FC236}">
                <a16:creationId xmlns:a16="http://schemas.microsoft.com/office/drawing/2014/main" id="{EDF00F7C-B7E8-4FA7-89CC-1A121B59A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Çevrimdışı çekirdek / Offline core / Offline-Kern — AI kapalıyken de tüm temel çalışma akışları kullanılabilir.</a:t>
            </a:r>
          </a:p>
        </p:txBody>
      </p:sp>
    </p:spTree>
    <p:extLst>
      <p:ext uri="{BB962C8B-B14F-4D97-AF65-F5344CB8AC3E}">
        <p14:creationId xmlns:p14="http://schemas.microsoft.com/office/powerpoint/2010/main" val="73775239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box-79">
            <a:extLst xmlns:a="http://schemas.openxmlformats.org/drawingml/2006/main">
              <a:ext uri="{FF2B5EF4-FFF2-40B4-BE49-F238E27FC236}">
                <a16:creationId xmlns:a16="http://schemas.microsoft.com/office/drawing/2014/main" id="{008E3398-0B7C-487C-9FBA-B06C87D2E6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333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2" name="text-80">
            <a:extLst xmlns:a="http://schemas.openxmlformats.org/drawingml/2006/main">
              <a:ext uri="{FF2B5EF4-FFF2-40B4-BE49-F238E27FC236}">
                <a16:creationId xmlns:a16="http://schemas.microsoft.com/office/drawing/2014/main" id="{8E43AB92-040D-4D87-AEEC-774E82544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"/>
            <a:ext cx="857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TESLİME HAZIR · READY TO DELIVER · BEREIT ZUR AUSLIEFERUNG</a:t>
            </a:r>
          </a:p>
        </p:txBody>
      </p:sp>
      <p:sp>
        <p:nvSpPr>
          <p:cNvPr id="3" name="text-81">
            <a:extLst xmlns:a="http://schemas.openxmlformats.org/drawingml/2006/main">
              <a:ext uri="{FF2B5EF4-FFF2-40B4-BE49-F238E27FC236}">
                <a16:creationId xmlns:a16="http://schemas.microsoft.com/office/drawing/2014/main" id="{D12E8566-4DBB-4CDC-9C16-64296B209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Hazır.</a:t>
            </a:r>
          </a:p>
        </p:txBody>
      </p:sp>
      <p:sp>
        <p:nvSpPr>
          <p:cNvPr id="4" name="text-82">
            <a:extLst xmlns:a="http://schemas.openxmlformats.org/drawingml/2006/main">
              <a:ext uri="{FF2B5EF4-FFF2-40B4-BE49-F238E27FC236}">
                <a16:creationId xmlns:a16="http://schemas.microsoft.com/office/drawing/2014/main" id="{A75DE5CD-9352-4BA5-906A-FF235AD80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67640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Ready.</a:t>
            </a:r>
          </a:p>
        </p:txBody>
      </p:sp>
      <p:sp>
        <p:nvSpPr>
          <p:cNvPr id="5" name="text-83">
            <a:extLst xmlns:a="http://schemas.openxmlformats.org/drawingml/2006/main">
              <a:ext uri="{FF2B5EF4-FFF2-40B4-BE49-F238E27FC236}">
                <a16:creationId xmlns:a16="http://schemas.microsoft.com/office/drawing/2014/main" id="{6CC6BEC3-91AD-4C6B-82EE-B585B94A2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676400"/>
            <a:ext cx="2857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480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480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Bereit.</a:t>
            </a:r>
          </a:p>
        </p:txBody>
      </p:sp>
      <p:sp>
        <p:nvSpPr>
          <p:cNvPr id="6" name="text-84">
            <a:extLst xmlns:a="http://schemas.openxmlformats.org/drawingml/2006/main">
              <a:ext uri="{FF2B5EF4-FFF2-40B4-BE49-F238E27FC236}">
                <a16:creationId xmlns:a16="http://schemas.microsoft.com/office/drawing/2014/main" id="{270B6A19-47E4-40FB-B62A-8A95B0BC4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2415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Bağımsız Windows uygulaması, belgeler, testler ve sunum tek pakette.</a:t>
            </a:r>
          </a:p>
        </p:txBody>
      </p:sp>
      <p:sp>
        <p:nvSpPr>
          <p:cNvPr id="7" name="text-85">
            <a:extLst xmlns:a="http://schemas.openxmlformats.org/drawingml/2006/main">
              <a:ext uri="{FF2B5EF4-FFF2-40B4-BE49-F238E27FC236}">
                <a16:creationId xmlns:a16="http://schemas.microsoft.com/office/drawing/2014/main" id="{43A0F352-429B-49D5-BE40-02B32662A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160</a:t>
            </a:r>
          </a:p>
        </p:txBody>
      </p:sp>
      <p:sp>
        <p:nvSpPr>
          <p:cNvPr id="8" name="text-86">
            <a:extLst xmlns:a="http://schemas.openxmlformats.org/drawingml/2006/main">
              <a:ext uri="{FF2B5EF4-FFF2-40B4-BE49-F238E27FC236}">
                <a16:creationId xmlns:a16="http://schemas.microsoft.com/office/drawing/2014/main" id="{022E99E2-874D-48D7-95E4-49DD0FD51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3981450"/>
            <a:ext cx="2476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70 / 70</a:t>
            </a:r>
          </a:p>
        </p:txBody>
      </p:sp>
      <p:sp>
        <p:nvSpPr>
          <p:cNvPr id="9" name="text-87">
            <a:extLst xmlns:a="http://schemas.openxmlformats.org/drawingml/2006/main">
              <a:ext uri="{FF2B5EF4-FFF2-40B4-BE49-F238E27FC236}">
                <a16:creationId xmlns:a16="http://schemas.microsoft.com/office/drawing/2014/main" id="{43FD3B3D-332F-4573-9A2F-14BD2346E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1524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0" name="text-88">
            <a:extLst xmlns:a="http://schemas.openxmlformats.org/drawingml/2006/main">
              <a:ext uri="{FF2B5EF4-FFF2-40B4-BE49-F238E27FC236}">
                <a16:creationId xmlns:a16="http://schemas.microsoft.com/office/drawing/2014/main" id="{26340892-6CAB-4D83-85E4-FAA7E481B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benzersiz A1 kelime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unique A1 words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eindeutige A1-Wörter</a:t>
            </a:r>
          </a:p>
        </p:txBody>
      </p:sp>
      <p:sp>
        <p:nvSpPr>
          <p:cNvPr id="11" name="text-89">
            <a:extLst xmlns:a="http://schemas.openxmlformats.org/drawingml/2006/main">
              <a:ext uri="{FF2B5EF4-FFF2-40B4-BE49-F238E27FC236}">
                <a16:creationId xmlns:a16="http://schemas.microsoft.com/office/drawing/2014/main" id="{CDF660C7-0A91-4F65-A7DF-F54B3EE5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667250"/>
            <a:ext cx="2476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otomatik test geçti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automated tests passed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automatische Tests bestanden</a:t>
            </a:r>
          </a:p>
        </p:txBody>
      </p:sp>
      <p:sp>
        <p:nvSpPr>
          <p:cNvPr id="12" name="text-90">
            <a:extLst xmlns:a="http://schemas.openxmlformats.org/drawingml/2006/main">
              <a:ext uri="{FF2B5EF4-FFF2-40B4-BE49-F238E27FC236}">
                <a16:creationId xmlns:a16="http://schemas.microsoft.com/office/drawing/2014/main" id="{DC6C3574-DB9A-428A-84F8-72398D4C1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4667250"/>
            <a:ext cx="2095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öğrenme alanı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learning areas</a:t>
            </a:r>
          </a:p>
          <a:p xmlns:a="http://schemas.openxmlformats.org/drawingml/2006/main">
            <a:pPr algn="l">
              <a:defRPr sz="12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Lernbereiche</a:t>
            </a:r>
          </a:p>
        </p:txBody>
      </p:sp>
      <p:sp>
        <p:nvSpPr>
          <p:cNvPr id="13" name="box-91">
            <a:extLst xmlns:a="http://schemas.openxmlformats.org/drawingml/2006/main">
              <a:ext uri="{FF2B5EF4-FFF2-40B4-BE49-F238E27FC236}">
                <a16:creationId xmlns:a16="http://schemas.microsoft.com/office/drawing/2014/main" id="{26DBDBCB-53D6-4163-9174-6F0E737EB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61975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AE2E"/>
          </a:solidFill>
          <a:ln xmlns:a="http://schemas.openxmlformats.org/drawingml/2006/main" w="0">
            <a:solidFill>
              <a:srgbClr val="E8AE2E"/>
            </a:solidFill>
            <a:prstDash val="solid"/>
          </a:ln>
        </p:spPr>
      </p:sp>
      <p:sp>
        <p:nvSpPr>
          <p:cNvPr id="14" name="text-92">
            <a:extLst xmlns:a="http://schemas.openxmlformats.org/drawingml/2006/main">
              <a:ext uri="{FF2B5EF4-FFF2-40B4-BE49-F238E27FC236}">
                <a16:creationId xmlns:a16="http://schemas.microsoft.com/office/drawing/2014/main" id="{6D421409-C49F-4A13-8AD5-C78F9C7D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71500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111111"/>
                </a:solidFill>
                <a:latin typeface="Arial"/>
                <a:ea typeface="Arial"/>
                <a:cs typeface="Arial"/>
              </a:rPr>
              <a:t>EXE + source + docs + private GitHub + trilingual deck · EXE + kaynak + belgeler + özel GitHub + üç dilli sunum</a:t>
            </a:r>
          </a:p>
        </p:txBody>
      </p:sp>
      <p:sp>
        <p:nvSpPr>
          <p:cNvPr id="15" name="text-93">
            <a:extLst xmlns:a="http://schemas.openxmlformats.org/drawingml/2006/main">
              <a:ext uri="{FF2B5EF4-FFF2-40B4-BE49-F238E27FC236}">
                <a16:creationId xmlns:a16="http://schemas.microsoft.com/office/drawing/2014/main" id="{486F4FA2-9D0D-46E3-9354-8F2906355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962650"/>
            <a:ext cx="10668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9A6500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A6500"/>
                </a:solidFill>
                <a:latin typeface="Arial"/>
                <a:ea typeface="Arial"/>
                <a:cs typeface="Arial"/>
              </a:rPr>
              <a:t>Windows 10/11 (x64) + macOS (Apple Silicon) — İndirme: github.com/Azizsekerdil/GermanCourseAI/releases (v1.1.2) · (özel repo)</a:t>
            </a:r>
          </a:p>
        </p:txBody>
      </p:sp>
      <p:sp>
        <p:nvSpPr>
          <p:cNvPr id="16" name="text-94">
            <a:extLst xmlns:a="http://schemas.openxmlformats.org/drawingml/2006/main">
              <a:ext uri="{FF2B5EF4-FFF2-40B4-BE49-F238E27FC236}">
                <a16:creationId xmlns:a16="http://schemas.microsoft.com/office/drawing/2014/main" id="{7A9B7946-7959-4B3B-A558-2B643C46D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19125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Windows 10/11 (x64) &amp; macOS (Apple Silicon) — Download: GitHub Releases (v1.1.2)</a:t>
            </a:r>
          </a:p>
        </p:txBody>
      </p:sp>
      <p:sp>
        <p:nvSpPr>
          <p:cNvPr id="17" name="text-95">
            <a:extLst xmlns:a="http://schemas.openxmlformats.org/drawingml/2006/main">
              <a:ext uri="{FF2B5EF4-FFF2-40B4-BE49-F238E27FC236}">
                <a16:creationId xmlns:a16="http://schemas.microsoft.com/office/drawing/2014/main" id="{B5DE2CBA-0339-432E-9BAF-CEDBC5F4D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00800"/>
            <a:ext cx="10668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D6470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D6470"/>
                </a:solidFill>
                <a:latin typeface="Arial"/>
                <a:ea typeface="Arial"/>
                <a:cs typeface="Arial"/>
              </a:rPr>
              <a:t>macOS paketi Apple Silicon (arm64) içindir ve notarize edilmemiştir; ilk açılışta sağ tık → Aç. / Not notarized; first launch: right-click → Open.</a:t>
            </a:r>
          </a:p>
        </p:txBody>
      </p:sp>
    </p:spTree>
    <p:extLst>
      <p:ext uri="{BB962C8B-B14F-4D97-AF65-F5344CB8AC3E}">
        <p14:creationId xmlns:p14="http://schemas.microsoft.com/office/powerpoint/2010/main" val="119350195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2026-09-06T09:40:47.4780000Z</dcterms:created>
  <dcterms:modified xsi:type="dcterms:W3CDTF">2026-09-06T09:40:47.4780000Z</dcterms:modified>
</coreProperties>
</file>